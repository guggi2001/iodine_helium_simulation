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8" r:id="rId5"/>
    <p:sldId id="271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16F7C2-4B54-3332-4201-0E728475C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F88BB33-A62F-3C14-CC4C-2DC8111DE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33347E-6532-EAB8-BD2C-05A6FCB31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C1FC7D-B0C4-F923-9B0F-16B2FCAB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FE4838-3F09-048F-3BBA-F00D844B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08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F9603-3B4C-D545-8EF9-2EFEE0B9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76DB2E-0833-EA7A-1D59-FA57F54F2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2064F0-B5CB-6A41-1B7D-685F2CC6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192F9-D368-5138-3A24-BAB15CAD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841C0F-0BCB-DE69-39D6-C3377BFE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31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2C813-67F7-EAB1-928B-F2D550990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5B4CC5-43BA-D4DD-62FB-6548FC788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81AAD4-88E7-5B11-30DB-24D512F2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A4F05D-028D-CC95-05FF-D5542A51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56AF22-5B6E-BE09-7CE0-66878D61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29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2DF02-069E-FFE5-5DED-E66D5400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1DF630-E6C1-7FB1-C89E-13138BDBD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4AB342-3FA8-CB89-A5B1-2490EDCEA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58900F-EF41-AF10-44A0-7AC70E1C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A3DAB1-E482-A9E4-D5EF-76159079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F24323-0BD5-61B7-F2D8-A42BFE01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54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15160-6FEE-67B9-377D-13E37F35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52DEDC-A13A-CC02-70F1-5A44EAB00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2E0A0D-7436-693E-3605-1E7201CD8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4C1CA4-A46B-2C68-E829-DFB475B7E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4ED89E-95DE-3F16-9D4A-AAF92079F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C9A9D51-A5C8-85A7-DA69-D48714F92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593E33-0416-F81A-6578-E75C5FE9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3B8C36-DD68-FDD3-B714-A45060BB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98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C4D1A-9338-43DC-3D05-40E951A1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6FB2E7-E758-2BE7-904B-B96D1F81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B61226-AE20-878B-327C-4B73A94D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D65863-83CD-B23F-1159-978DD5D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15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943677-9FFC-489E-9042-2DEEA805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3AAB4D-F66A-103C-5A15-7E6BDB17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86DCBA-EBD1-E6F0-50FA-D59DF788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06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189EE8-BF28-585D-9417-452D9AF27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F3CA56-C727-7983-AD3A-A87A71A47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5B11D04-C48E-85FA-36BD-722DF5550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350E72-6D93-6835-70D0-C23C8961E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11982C-DFAF-EB5A-03D7-A8E21887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C1E1E8-430A-AF41-C7F6-69C39FD7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941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8777E-AD65-DD30-172D-39D6491F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F5C2611-05A6-3EA8-849D-9D8590B3F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CFEEE0-040A-2428-1CE2-04B4EC60E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6A814A-6AD4-9AEA-81EE-C39FD49A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FB0926-6839-303A-307E-62277D051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DD5EC9-0B0F-907E-19A8-643B933D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53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30214-3F46-AE14-7931-DA04CCE1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7D06B4-AA4D-50BF-DDC7-878EC8D58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5651E0-14FB-DD8E-5071-3D52D9EB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B7D234-F298-0605-55D5-8C09BB2AB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9899DD-93FF-2E08-2334-942F09A4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81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BBD81C8-867F-4603-E9E0-510A715B1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C665F5-154A-1787-586D-E8E8BD7AB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F9BAA3-BC85-2BF1-25DD-84AE9FE1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CEDC97-9604-CF79-6B88-A3A49454F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9ED351-2DCF-4A01-1453-BE495849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24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98E5F9-B785-4E5B-68DA-41A8D8C6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0F1977-D885-5F9A-3950-BAE919E0A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38D4DD-3E76-1E48-536B-7A270F02F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A6C93-99FD-4234-BF11-E68A9DF0C463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9B221F-5BC0-21D4-64A9-BA5DBF09C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090FFC-06C2-32F4-0D5B-3A6D1EC58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0C9F5-ABBA-4EBF-9418-92E2E41C15B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77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4315D6-64E3-D2D9-75A2-3B5992FD46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err="1"/>
              <a:t>Progress</a:t>
            </a:r>
            <a:r>
              <a:rPr lang="de-AT" dirty="0"/>
              <a:t> MD </a:t>
            </a:r>
            <a:r>
              <a:rPr lang="de-AT" dirty="0" err="1"/>
              <a:t>simulation</a:t>
            </a:r>
            <a:endParaRPr lang="en-GB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1C97F3-66CC-D6B6-25B9-10D1E707B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10.3.25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330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4BD042-CF00-D4A5-CF52-B06B09C7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Velocity </a:t>
            </a:r>
            <a:r>
              <a:rPr lang="de-AT" dirty="0" err="1"/>
              <a:t>dependent</a:t>
            </a:r>
            <a:r>
              <a:rPr lang="de-AT" dirty="0"/>
              <a:t> </a:t>
            </a:r>
            <a:r>
              <a:rPr lang="de-AT" dirty="0" err="1"/>
              <a:t>crosssection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A787F2-4588-1939-3A95-4ACB25E50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73" y="1615651"/>
            <a:ext cx="6332191" cy="4351338"/>
          </a:xfrm>
        </p:spPr>
        <p:txBody>
          <a:bodyPr/>
          <a:lstStyle/>
          <a:p>
            <a:r>
              <a:rPr lang="de-AT" dirty="0" err="1"/>
              <a:t>Calculate</a:t>
            </a:r>
            <a:r>
              <a:rPr lang="de-AT" dirty="0"/>
              <a:t> total </a:t>
            </a:r>
            <a:r>
              <a:rPr lang="de-AT" dirty="0" err="1"/>
              <a:t>elastic</a:t>
            </a:r>
            <a:r>
              <a:rPr lang="de-AT" dirty="0"/>
              <a:t> </a:t>
            </a:r>
            <a:r>
              <a:rPr lang="de-AT" dirty="0" err="1"/>
              <a:t>collision</a:t>
            </a:r>
            <a:r>
              <a:rPr lang="de-AT" dirty="0"/>
              <a:t> </a:t>
            </a:r>
            <a:r>
              <a:rPr lang="de-AT" dirty="0" err="1"/>
              <a:t>crosssection</a:t>
            </a:r>
            <a:endParaRPr lang="de-AT" dirty="0"/>
          </a:p>
          <a:p>
            <a:r>
              <a:rPr lang="en-GB" dirty="0" err="1"/>
              <a:t>I</a:t>
            </a:r>
            <a:r>
              <a:rPr lang="en-GB" baseline="30000" dirty="0" err="1"/>
              <a:t>+</a:t>
            </a:r>
            <a:r>
              <a:rPr lang="en-GB" dirty="0" err="1"/>
              <a:t>He</a:t>
            </a:r>
            <a:r>
              <a:rPr lang="en-GB" dirty="0"/>
              <a:t> potential from: </a:t>
            </a:r>
            <a:r>
              <a:rPr lang="de-DE" b="1" i="1" dirty="0"/>
              <a:t>J. Chem. Phys.</a:t>
            </a:r>
            <a:r>
              <a:rPr lang="de-DE" b="1" dirty="0"/>
              <a:t> 122, 194311 (2005)</a:t>
            </a:r>
            <a:endParaRPr lang="en-GB" b="1" dirty="0"/>
          </a:p>
          <a:p>
            <a:r>
              <a:rPr lang="en-GB" dirty="0"/>
              <a:t>Method from: </a:t>
            </a:r>
            <a:r>
              <a:rPr lang="en-GB" sz="2400" b="1" i="0" dirty="0">
                <a:effectLst/>
                <a:latin typeface="Menlo"/>
              </a:rPr>
              <a:t>10.1109/</a:t>
            </a:r>
            <a:r>
              <a:rPr lang="en-GB" sz="2400" b="1" i="0" dirty="0" err="1">
                <a:effectLst/>
                <a:latin typeface="Menlo"/>
              </a:rPr>
              <a:t>NSSMIC.2004.1462242</a:t>
            </a:r>
            <a:endParaRPr lang="en-GB" sz="1800" b="1" i="0" dirty="0">
              <a:effectLst/>
              <a:latin typeface="Menlo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D6398D6-98D6-B12A-E7D8-D878B8779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40"/>
          <a:stretch/>
        </p:blipFill>
        <p:spPr>
          <a:xfrm>
            <a:off x="7416099" y="1438981"/>
            <a:ext cx="2528790" cy="36827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1ED0BB7A-4D5C-3FBD-FD51-4A933E1D3F41}"/>
                  </a:ext>
                </a:extLst>
              </p:cNvPr>
              <p:cNvSpPr txBox="1"/>
              <p:nvPr/>
            </p:nvSpPr>
            <p:spPr>
              <a:xfrm>
                <a:off x="567558" y="4584613"/>
                <a:ext cx="5139548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AT" dirty="0"/>
                  <a:t>Method </a:t>
                </a:r>
                <a:r>
                  <a:rPr lang="de-AT" dirty="0" err="1"/>
                  <a:t>does</a:t>
                </a:r>
                <a:r>
                  <a:rPr lang="de-AT" dirty="0"/>
                  <a:t> not </a:t>
                </a:r>
                <a:r>
                  <a:rPr lang="de-AT" dirty="0" err="1"/>
                  <a:t>converge</a:t>
                </a:r>
                <a:r>
                  <a:rPr lang="de-AT" dirty="0"/>
                  <a:t>, but </a:t>
                </a:r>
                <a:r>
                  <a:rPr lang="de-AT" dirty="0" err="1"/>
                  <a:t>curve</a:t>
                </a:r>
                <a:r>
                  <a:rPr lang="de-AT" dirty="0"/>
                  <a:t> </a:t>
                </a:r>
                <a:r>
                  <a:rPr lang="de-AT" dirty="0" err="1"/>
                  <a:t>has</a:t>
                </a:r>
                <a:r>
                  <a:rPr lang="de-AT" dirty="0"/>
                  <a:t> </a:t>
                </a:r>
                <a:r>
                  <a:rPr lang="de-AT" dirty="0" err="1"/>
                  <a:t>the</a:t>
                </a:r>
                <a:r>
                  <a:rPr lang="de-AT" dirty="0"/>
                  <a:t> </a:t>
                </a:r>
                <a:r>
                  <a:rPr lang="de-AT" dirty="0" err="1"/>
                  <a:t>shape</a:t>
                </a:r>
                <a:r>
                  <a:rPr lang="de-AT" dirty="0"/>
                  <a:t>:</a:t>
                </a:r>
                <a:br>
                  <a:rPr lang="de-AT" dirty="0"/>
                </a:br>
                <a:br>
                  <a:rPr lang="de-AT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AT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de-A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AT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AT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AT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AT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de-AT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AT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de-AT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1ED0BB7A-4D5C-3FBD-FD51-4A933E1D3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58" y="4584613"/>
                <a:ext cx="5139548" cy="1077218"/>
              </a:xfrm>
              <a:prstGeom prst="rect">
                <a:avLst/>
              </a:prstGeom>
              <a:blipFill>
                <a:blip r:embed="rId3"/>
                <a:stretch>
                  <a:fillRect l="-949" t="-2825" r="-2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43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Adjusting</a:t>
            </a:r>
            <a:r>
              <a:rPr lang="de-AT" dirty="0"/>
              <a:t> MD </a:t>
            </a:r>
            <a:r>
              <a:rPr lang="de-AT" dirty="0" err="1"/>
              <a:t>to</a:t>
            </a:r>
            <a:r>
              <a:rPr lang="de-AT" dirty="0"/>
              <a:t> fit </a:t>
            </a:r>
            <a:r>
              <a:rPr lang="de-AT" dirty="0" err="1"/>
              <a:t>DFT</a:t>
            </a:r>
            <a:r>
              <a:rPr lang="de-AT" dirty="0"/>
              <a:t> |v|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69" y="1743645"/>
            <a:ext cx="10515600" cy="4351338"/>
          </a:xfrm>
        </p:spPr>
        <p:txBody>
          <a:bodyPr>
            <a:normAutofit/>
          </a:bodyPr>
          <a:lstStyle/>
          <a:p>
            <a:r>
              <a:rPr lang="de-AT" sz="2400" dirty="0" err="1"/>
              <a:t>R0</a:t>
            </a:r>
            <a:r>
              <a:rPr lang="de-AT" sz="2400" dirty="0"/>
              <a:t> = 9 Angström</a:t>
            </a:r>
            <a:br>
              <a:rPr lang="de-AT" sz="2400" dirty="0"/>
            </a:br>
            <a:endParaRPr lang="de-AT" sz="2400" dirty="0"/>
          </a:p>
          <a:p>
            <a:r>
              <a:rPr lang="de-AT" sz="2400" dirty="0"/>
              <a:t>N = 2000 (</a:t>
            </a:r>
            <a:r>
              <a:rPr lang="de-AT" sz="2400" dirty="0" err="1"/>
              <a:t>R_droplet</a:t>
            </a:r>
            <a:r>
              <a:rPr lang="de-AT" sz="2400" dirty="0"/>
              <a:t> = 27 Angström)</a:t>
            </a:r>
            <a:br>
              <a:rPr lang="de-AT" sz="2400" dirty="0"/>
            </a:br>
            <a:endParaRPr lang="de-AT" sz="2400" dirty="0"/>
          </a:p>
          <a:p>
            <a:r>
              <a:rPr lang="en-GB" sz="2400" b="0" i="0" dirty="0" err="1">
                <a:effectLst/>
                <a:latin typeface="Menlo"/>
              </a:rPr>
              <a:t>Q</a:t>
            </a:r>
            <a:r>
              <a:rPr lang="en-GB" sz="2400" b="0" i="0" baseline="-25000" dirty="0" err="1">
                <a:effectLst/>
                <a:latin typeface="Menlo"/>
              </a:rPr>
              <a:t>s0</a:t>
            </a:r>
            <a:r>
              <a:rPr lang="en-GB" sz="2400" b="0" i="0" dirty="0">
                <a:effectLst/>
                <a:latin typeface="Menlo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Menlo"/>
              </a:rPr>
              <a:t>= 1900 </a:t>
            </a:r>
            <a:r>
              <a:rPr lang="en-GB" sz="2400" b="0" i="0" dirty="0" err="1">
                <a:solidFill>
                  <a:srgbClr val="00B050"/>
                </a:solidFill>
                <a:effectLst/>
                <a:latin typeface="Menlo"/>
              </a:rPr>
              <a:t>Angström</a:t>
            </a:r>
            <a:r>
              <a:rPr lang="en-GB" sz="2400" dirty="0" err="1">
                <a:solidFill>
                  <a:srgbClr val="00B050"/>
                </a:solidFill>
                <a:latin typeface="Menlo"/>
              </a:rPr>
              <a:t>^2</a:t>
            </a:r>
            <a:br>
              <a:rPr lang="en-GB" sz="2400" b="0" i="0" dirty="0">
                <a:effectLst/>
                <a:latin typeface="Menlo"/>
              </a:rPr>
            </a:br>
            <a:r>
              <a:rPr lang="en-GB" sz="2400" b="0" i="0" dirty="0">
                <a:effectLst/>
                <a:latin typeface="Menlo"/>
              </a:rPr>
              <a:t>(fit value)</a:t>
            </a:r>
            <a:br>
              <a:rPr lang="en-GB" sz="2400" b="0" i="0" dirty="0">
                <a:effectLst/>
                <a:latin typeface="Menlo"/>
              </a:rPr>
            </a:br>
            <a:endParaRPr lang="en-GB" sz="2400" b="0" i="0" dirty="0">
              <a:effectLst/>
              <a:latin typeface="Menlo"/>
            </a:endParaRPr>
          </a:p>
          <a:p>
            <a:r>
              <a:rPr lang="en-GB" sz="2400" b="0" i="0" dirty="0" err="1">
                <a:effectLst/>
                <a:latin typeface="Menlo"/>
              </a:rPr>
              <a:t>binding_energy_I_ion</a:t>
            </a:r>
            <a:r>
              <a:rPr lang="en-GB" sz="2400" b="0" i="0" dirty="0">
                <a:effectLst/>
                <a:latin typeface="Menlo"/>
              </a:rPr>
              <a:t> = 0.3 eV;</a:t>
            </a:r>
            <a:br>
              <a:rPr lang="en-GB" sz="2400" b="0" i="0" dirty="0">
                <a:effectLst/>
                <a:latin typeface="Menlo"/>
              </a:rPr>
            </a:br>
            <a:endParaRPr lang="en-GB" sz="2400" b="0" i="0" dirty="0">
              <a:effectLst/>
              <a:latin typeface="Menlo"/>
            </a:endParaRPr>
          </a:p>
          <a:p>
            <a:endParaRPr lang="de-AT" sz="3600" dirty="0"/>
          </a:p>
          <a:p>
            <a:endParaRPr lang="en-GB" sz="36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6E13DBE-5DAA-443D-9A32-CF513B6B4F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82"/>
          <a:stretch/>
        </p:blipFill>
        <p:spPr>
          <a:xfrm>
            <a:off x="6634129" y="1853438"/>
            <a:ext cx="4317335" cy="406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1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C1A14-A703-6747-391F-5E215F6C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72" y="163326"/>
            <a:ext cx="10515600" cy="1325563"/>
          </a:xfrm>
        </p:spPr>
        <p:txBody>
          <a:bodyPr/>
          <a:lstStyle/>
          <a:p>
            <a:r>
              <a:rPr lang="de-AT" dirty="0"/>
              <a:t>Ground </a:t>
            </a:r>
            <a:r>
              <a:rPr lang="de-AT" dirty="0" err="1"/>
              <a:t>state</a:t>
            </a:r>
            <a:r>
              <a:rPr lang="de-AT" dirty="0"/>
              <a:t> </a:t>
            </a:r>
            <a:r>
              <a:rPr lang="de-AT" dirty="0" err="1"/>
              <a:t>I</a:t>
            </a:r>
            <a:r>
              <a:rPr lang="de-AT" baseline="-25000" dirty="0" err="1"/>
              <a:t>2</a:t>
            </a:r>
            <a:r>
              <a:rPr lang="de-AT" baseline="-25000" dirty="0"/>
              <a:t> </a:t>
            </a:r>
            <a:r>
              <a:rPr lang="de-AT" dirty="0"/>
              <a:t>in </a:t>
            </a:r>
            <a:r>
              <a:rPr lang="de-AT" dirty="0" err="1"/>
              <a:t>droplet</a:t>
            </a:r>
            <a:endParaRPr lang="en-GB" baseline="-25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7DDF8-FC6B-DD04-6909-A7E26B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35" y="1430378"/>
            <a:ext cx="10515600" cy="4351338"/>
          </a:xfrm>
        </p:spPr>
        <p:txBody>
          <a:bodyPr/>
          <a:lstStyle/>
          <a:p>
            <a:r>
              <a:rPr lang="de-AT" sz="1800" dirty="0" err="1"/>
              <a:t>R0</a:t>
            </a:r>
            <a:r>
              <a:rPr lang="de-AT" sz="1800" dirty="0"/>
              <a:t> = 2.666 Angström</a:t>
            </a:r>
          </a:p>
          <a:p>
            <a:r>
              <a:rPr lang="de-AT" sz="1800" dirty="0"/>
              <a:t>N = </a:t>
            </a:r>
            <a:r>
              <a:rPr lang="de-AT" sz="1800" dirty="0" err="1"/>
              <a:t>ensemble</a:t>
            </a:r>
            <a:r>
              <a:rPr lang="de-AT" sz="1800" dirty="0"/>
              <a:t> (14 K, 40 bar)</a:t>
            </a:r>
          </a:p>
          <a:p>
            <a:r>
              <a:rPr lang="de-AT" sz="1800" dirty="0" err="1"/>
              <a:t>T_molecule</a:t>
            </a:r>
            <a:r>
              <a:rPr lang="de-AT" sz="1800" dirty="0"/>
              <a:t> = 0.4 K (</a:t>
            </a:r>
            <a:r>
              <a:rPr lang="de-AT" sz="1800" dirty="0" err="1"/>
              <a:t>determines</a:t>
            </a:r>
            <a:r>
              <a:rPr lang="de-AT" sz="1800" dirty="0"/>
              <a:t> </a:t>
            </a:r>
            <a:r>
              <a:rPr lang="de-AT" sz="1800" dirty="0" err="1"/>
              <a:t>distribution</a:t>
            </a:r>
            <a:r>
              <a:rPr lang="de-AT" sz="1800" dirty="0"/>
              <a:t> in </a:t>
            </a:r>
            <a:r>
              <a:rPr lang="de-AT" sz="1800" dirty="0" err="1"/>
              <a:t>droplet</a:t>
            </a:r>
            <a:r>
              <a:rPr lang="de-AT" sz="1800" dirty="0"/>
              <a:t>)</a:t>
            </a:r>
          </a:p>
          <a:p>
            <a:endParaRPr lang="de-AT" dirty="0"/>
          </a:p>
          <a:p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6B52509-80D3-9EFB-2C4C-DC579C232F65}"/>
              </a:ext>
            </a:extLst>
          </p:cNvPr>
          <p:cNvSpPr txBox="1"/>
          <p:nvPr/>
        </p:nvSpPr>
        <p:spPr>
          <a:xfrm>
            <a:off x="800888" y="5965672"/>
            <a:ext cx="1849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I+He</a:t>
            </a:r>
            <a:r>
              <a:rPr lang="de-AT" dirty="0"/>
              <a:t> </a:t>
            </a:r>
            <a:r>
              <a:rPr lang="de-AT" dirty="0" err="1"/>
              <a:t>distributions</a:t>
            </a:r>
            <a:endParaRPr lang="en-GB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3EFA11B-7C25-FA88-C64E-8123B18D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625" y="4134690"/>
            <a:ext cx="2982189" cy="254663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DDEDD47-3916-3776-CDD6-DE420E6F2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51" y="2749968"/>
            <a:ext cx="4711688" cy="310826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EA29D12-3BAF-A16F-AB63-32D65F732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598" y="1393672"/>
            <a:ext cx="3163682" cy="273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6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EA84F-2A67-0859-5379-8BCFAC51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27" y="-95462"/>
            <a:ext cx="10515600" cy="1325563"/>
          </a:xfrm>
        </p:spPr>
        <p:txBody>
          <a:bodyPr/>
          <a:lstStyle/>
          <a:p>
            <a:r>
              <a:rPr lang="de-AT" dirty="0" err="1"/>
              <a:t>Mass</a:t>
            </a:r>
            <a:r>
              <a:rPr lang="de-AT" dirty="0"/>
              <a:t> </a:t>
            </a:r>
            <a:r>
              <a:rPr lang="de-AT" dirty="0" err="1"/>
              <a:t>distribution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ions</a:t>
            </a: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CA96D30-40A3-CC89-2181-E10ABDB38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74" y="4297128"/>
            <a:ext cx="7876453" cy="24688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1AD7131-52C4-A307-7125-2039029B01C4}"/>
              </a:ext>
            </a:extLst>
          </p:cNvPr>
          <p:cNvSpPr txBox="1"/>
          <p:nvPr/>
        </p:nvSpPr>
        <p:spPr>
          <a:xfrm>
            <a:off x="1447858" y="3518865"/>
            <a:ext cx="211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Simulated</a:t>
            </a:r>
            <a:r>
              <a:rPr lang="de-AT" dirty="0"/>
              <a:t> </a:t>
            </a:r>
            <a:r>
              <a:rPr lang="de-AT" dirty="0" err="1"/>
              <a:t>histogram</a:t>
            </a:r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3BAD94B-9E58-98AA-B2EF-44CFCD9D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118" y="1633899"/>
            <a:ext cx="3512557" cy="172480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EECD43A-BF7A-E3B7-26D8-C49412206E46}"/>
              </a:ext>
            </a:extLst>
          </p:cNvPr>
          <p:cNvSpPr txBox="1"/>
          <p:nvPr/>
        </p:nvSpPr>
        <p:spPr>
          <a:xfrm>
            <a:off x="5726036" y="3556701"/>
            <a:ext cx="160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Measured</a:t>
            </a:r>
            <a:r>
              <a:rPr lang="de-AT" dirty="0"/>
              <a:t> </a:t>
            </a:r>
            <a:r>
              <a:rPr lang="de-AT" dirty="0" err="1"/>
              <a:t>data</a:t>
            </a:r>
            <a:endParaRPr lang="en-GB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199F260-50FE-7425-A412-B24A5D42C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374" y="1765738"/>
            <a:ext cx="2165369" cy="1718142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AF0D51E1-3DCD-6C79-6FF9-6FFBA16A7F47}"/>
              </a:ext>
            </a:extLst>
          </p:cNvPr>
          <p:cNvSpPr txBox="1"/>
          <p:nvPr/>
        </p:nvSpPr>
        <p:spPr>
          <a:xfrm>
            <a:off x="215986" y="959910"/>
            <a:ext cx="7029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 err="1">
                <a:effectLst/>
                <a:latin typeface="Menlo"/>
              </a:rPr>
              <a:t>mass_attach_probability</a:t>
            </a:r>
            <a:r>
              <a:rPr lang="en-GB" sz="1800" b="0" i="0" dirty="0">
                <a:effectLst/>
                <a:latin typeface="Menlo"/>
              </a:rPr>
              <a:t> = 0.09   at each collision of ions with He</a:t>
            </a:r>
          </a:p>
        </p:txBody>
      </p:sp>
    </p:spTree>
    <p:extLst>
      <p:ext uri="{BB962C8B-B14F-4D97-AF65-F5344CB8AC3E}">
        <p14:creationId xmlns:p14="http://schemas.microsoft.com/office/powerpoint/2010/main" val="1837993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C811C-F641-6C2D-F349-27699E49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</a:t>
            </a:r>
            <a:r>
              <a:rPr lang="de-AT" baseline="-25000" dirty="0" err="1"/>
              <a:t>2</a:t>
            </a:r>
            <a:r>
              <a:rPr lang="de-AT" baseline="-25000" dirty="0"/>
              <a:t> 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9 Angström </a:t>
            </a:r>
            <a:r>
              <a:rPr lang="de-AT" dirty="0" err="1"/>
              <a:t>interatomic</a:t>
            </a:r>
            <a:r>
              <a:rPr lang="de-AT" dirty="0"/>
              <a:t> </a:t>
            </a:r>
            <a:r>
              <a:rPr lang="de-AT" dirty="0" err="1"/>
              <a:t>distance</a:t>
            </a:r>
            <a:endParaRPr lang="en-GB" baseline="-25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44DAFB-4FA3-66BB-9ECB-8E6C4E37E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800" dirty="0" err="1"/>
              <a:t>R0</a:t>
            </a:r>
            <a:r>
              <a:rPr lang="de-AT" sz="2800" dirty="0"/>
              <a:t> = 2.666 Angström</a:t>
            </a:r>
          </a:p>
          <a:p>
            <a:r>
              <a:rPr lang="de-AT" sz="2800" dirty="0"/>
              <a:t>N = </a:t>
            </a:r>
            <a:r>
              <a:rPr lang="de-AT" sz="2800" dirty="0" err="1"/>
              <a:t>ensemble</a:t>
            </a:r>
            <a:r>
              <a:rPr lang="de-AT" sz="2800" dirty="0"/>
              <a:t> (14 K, 40 bar)</a:t>
            </a:r>
          </a:p>
          <a:p>
            <a:r>
              <a:rPr lang="de-AT" sz="2800" dirty="0" err="1"/>
              <a:t>T_molecule</a:t>
            </a:r>
            <a:r>
              <a:rPr lang="de-AT" sz="2800" dirty="0"/>
              <a:t> = 12.7 K</a:t>
            </a: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5F0C8A-8370-88A9-5462-9B76C7F85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740" y="3384099"/>
            <a:ext cx="4683405" cy="304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5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6D73FF-AB69-C813-4EA7-FED8F1DD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Why</a:t>
            </a:r>
            <a:r>
              <a:rPr lang="de-AT" dirty="0"/>
              <a:t> 12.7 K?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972ABA1-C91B-F8E1-76D6-77D11A960B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𝑙𝑎𝑛𝑑𝑎𝑢</m:t>
                              </m:r>
                            </m:sub>
                            <m:sup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e-AT" b="0" dirty="0"/>
              </a:p>
              <a:p>
                <a:pPr>
                  <a:buFont typeface="Wingdings" panose="05000000000000000000" pitchFamily="2" charset="2"/>
                  <a:buChar char="è"/>
                </a:pP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𝑇</m:t>
                    </m:r>
                    <m:r>
                      <a:rPr lang="de-A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de-A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A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A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de-A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de-A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Sup>
                      <m:sSubSupPr>
                        <m:ctrlPr>
                          <a:rPr lang="de-A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𝑙𝑎𝑛𝑑𝑎𝑢</m:t>
                        </m:r>
                      </m:sub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</m:oMath>
                </a14:m>
                <a:endParaRPr lang="en-GB" dirty="0"/>
              </a:p>
              <a:p>
                <a:pPr>
                  <a:buFont typeface="Wingdings" panose="05000000000000000000" pitchFamily="2" charset="2"/>
                  <a:buChar char="è"/>
                </a:pPr>
                <a:endParaRPr lang="en-GB" dirty="0"/>
              </a:p>
              <a:p>
                <a:pPr>
                  <a:buFont typeface="Wingdings" panose="05000000000000000000" pitchFamily="2" charset="2"/>
                  <a:buChar char="è"/>
                </a:pPr>
                <a:r>
                  <a:rPr lang="en-GB" dirty="0"/>
                  <a:t>Using m = 127 u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𝑙𝑎𝑛𝑑𝑎𝑢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=50</m:t>
                    </m:r>
                    <m:f>
                      <m:f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de-AT" b="0" dirty="0"/>
              </a:p>
              <a:p>
                <a:pPr marL="0" indent="0">
                  <a:buNone/>
                </a:pPr>
                <a:r>
                  <a:rPr lang="en-GB" dirty="0"/>
                  <a:t>T = 12.7 K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972ABA1-C91B-F8E1-76D6-77D11A960B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5750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216</Words>
  <Application>Microsoft Office PowerPoint</Application>
  <PresentationFormat>Breitbild</PresentationFormat>
  <Paragraphs>31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4" baseType="lpstr">
      <vt:lpstr>Menlo</vt:lpstr>
      <vt:lpstr>Arial</vt:lpstr>
      <vt:lpstr>Calibri</vt:lpstr>
      <vt:lpstr>Calibri Light</vt:lpstr>
      <vt:lpstr>Cambria Math</vt:lpstr>
      <vt:lpstr>Wingdings</vt:lpstr>
      <vt:lpstr>Office</vt:lpstr>
      <vt:lpstr>Progress MD simulation</vt:lpstr>
      <vt:lpstr>Velocity dependent crosssection</vt:lpstr>
      <vt:lpstr>Adjusting MD to fit DFT |v|</vt:lpstr>
      <vt:lpstr>Ground state I2 in droplet</vt:lpstr>
      <vt:lpstr>Mass distribution of ions</vt:lpstr>
      <vt:lpstr>I2  with 9 Angström interatomic distance</vt:lpstr>
      <vt:lpstr>Why 12.7 K?</vt:lpstr>
    </vt:vector>
  </TitlesOfParts>
  <Company>Technische Universitaet Graz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MD simulation</dc:title>
  <dc:creator>Michael St</dc:creator>
  <cp:lastModifiedBy>Michael St</cp:lastModifiedBy>
  <cp:revision>2</cp:revision>
  <dcterms:created xsi:type="dcterms:W3CDTF">2025-03-10T07:28:09Z</dcterms:created>
  <dcterms:modified xsi:type="dcterms:W3CDTF">2025-03-10T08:29:19Z</dcterms:modified>
</cp:coreProperties>
</file>