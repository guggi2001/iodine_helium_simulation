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421ED9-AFF5-4690-BA93-FC5BF0D030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71FE959-1897-4012-B152-257871291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0A0A5E-0F39-471D-A83D-E78273EAD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0362-2CE0-49BD-9825-79A5DB267BFC}" type="datetimeFigureOut">
              <a:rPr lang="de-AT" smtClean="0"/>
              <a:t>06.03.2025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5AD111-0B6C-4F0B-BA4E-7637363C1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BA938C-4AF6-4D12-9D0C-88F281BDB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61B1E-854D-4F35-9CD0-D778CCCA52D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32768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2101F1-F54D-4B35-B7A7-6A1782B0D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F7E0B3-065C-437B-8798-4E98C8892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E286E1-72D7-4166-9E7C-280621385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0362-2CE0-49BD-9825-79A5DB267BFC}" type="datetimeFigureOut">
              <a:rPr lang="de-AT" smtClean="0"/>
              <a:t>06.03.2025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94C7F1-DAEB-4286-8A2C-AF4F7B8CE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1FDB5E-3EBE-4E6E-AC13-331DF4EAF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61B1E-854D-4F35-9CD0-D778CCCA52D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77923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0C5778-3DF3-4B39-9B24-CEAFFD08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0C4F76-401A-4E56-8334-4C3A78B9B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B43463-C71F-4698-903F-D444FC7A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0362-2CE0-49BD-9825-79A5DB267BFC}" type="datetimeFigureOut">
              <a:rPr lang="de-AT" smtClean="0"/>
              <a:t>06.03.2025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535381-619E-4883-9B3D-726209936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724C34-FADB-4EFD-8D71-02C4B3D57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61B1E-854D-4F35-9CD0-D778CCCA52D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82975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B15CE0-1737-4320-9DFB-3B50B668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F625D6-4F9D-4705-8333-9653547241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ADE1DEC-9A2E-4714-A1C0-E4839A52D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5BA25CC-4833-430A-9030-7066C7D4E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0362-2CE0-49BD-9825-79A5DB267BFC}" type="datetimeFigureOut">
              <a:rPr lang="de-AT" smtClean="0"/>
              <a:t>06.03.2025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6083946-BB32-4379-83AA-6DE83DFE8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ECE95CD-8A23-4851-8162-645CBF032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61B1E-854D-4F35-9CD0-D778CCCA52D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30978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A9E6E1-5B3F-4649-AB8B-D8660299F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6FFC34-61FD-433F-BB78-6201B84B4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68126CD-05D0-4E71-818A-E9B829BE1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71AACF1-3266-4E31-B622-2FC3EB46BF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8365E4C-3F26-44EF-BC46-A38C6352A4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01E78DF-7BB3-4F24-AA26-E8B29BFE6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0362-2CE0-49BD-9825-79A5DB267BFC}" type="datetimeFigureOut">
              <a:rPr lang="de-AT" smtClean="0"/>
              <a:t>06.03.2025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F883B47-CB75-4465-89D2-6D352773C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027A59A-C2B9-44B7-9C9B-34C348694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61B1E-854D-4F35-9CD0-D778CCCA52D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81099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B6F3FA-C7F0-43AF-9C4F-5957F2612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015C407-2C5F-4CDF-8999-6A7F592D1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0362-2CE0-49BD-9825-79A5DB267BFC}" type="datetimeFigureOut">
              <a:rPr lang="de-AT" smtClean="0"/>
              <a:t>06.03.2025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2949A93-3B5A-4412-8565-398A2582A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434AA19-940A-45B6-9B15-9B8B263A8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61B1E-854D-4F35-9CD0-D778CCCA52D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14554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2B92B78-76EC-4500-AC4C-BBAABB246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0362-2CE0-49BD-9825-79A5DB267BFC}" type="datetimeFigureOut">
              <a:rPr lang="de-AT" smtClean="0"/>
              <a:t>06.03.2025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9CE7DAB-7795-4434-8D7B-4029A38E9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662604-9FCD-48EC-A58A-C805E8DA7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61B1E-854D-4F35-9CD0-D778CCCA52D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23608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3E2AC5-C72A-4CCA-A086-9CEF63881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394D3F-906E-45B1-801B-12CA40E25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8BEFE7B-B28C-493E-9001-A0457F940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F57951A-5307-4099-9CD1-3CC396B09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0362-2CE0-49BD-9825-79A5DB267BFC}" type="datetimeFigureOut">
              <a:rPr lang="de-AT" smtClean="0"/>
              <a:t>06.03.2025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4DA89E7-9B9C-4B15-9F9C-5F62AA182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016CA50-BB82-4193-AF35-BF9A30A08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61B1E-854D-4F35-9CD0-D778CCCA52D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83926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D276DA-7BC1-4698-8D34-F98536859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390C3D0-B2F1-4744-A03E-3FC3ECB75A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CE9E5F5-8998-46EF-B4C2-447BD6AC8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AD14990-38E1-4157-A855-DA7D6704F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0362-2CE0-49BD-9825-79A5DB267BFC}" type="datetimeFigureOut">
              <a:rPr lang="de-AT" smtClean="0"/>
              <a:t>06.03.2025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B26F64A-3DDC-4680-A009-0DA66BBDE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3A06F8C-ED8F-4FF4-B5DA-CA6E144BC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61B1E-854D-4F35-9CD0-D778CCCA52D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54671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5F1DB4-0835-417A-8414-DC2131019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8EBF95E-328F-4355-98E9-8CA127FF92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21F03E5-C324-4624-872A-272D16919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0362-2CE0-49BD-9825-79A5DB267BFC}" type="datetimeFigureOut">
              <a:rPr lang="de-AT" smtClean="0"/>
              <a:t>06.03.2025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FF4899-B231-4289-8462-EF8A169FD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01D568E-C07F-4948-B914-5E9CA608A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61B1E-854D-4F35-9CD0-D778CCCA52D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52674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30E7BBB-4820-4C0F-9199-EAF92DD25D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5AE3593-DCFF-4428-A84B-CD00807F1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6690E0-41CE-46D0-B1FE-99FC08B5D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0362-2CE0-49BD-9825-79A5DB267BFC}" type="datetimeFigureOut">
              <a:rPr lang="de-AT" smtClean="0"/>
              <a:t>06.03.2025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9D3517-681D-4055-9F64-28C332BD1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1827EF4-0645-4791-B3B9-9CD16722F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61B1E-854D-4F35-9CD0-D778CCCA52D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32194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FFC0078-B1D0-4A41-AFD7-826307937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7FF5C6-5F65-4586-8D56-D7C2A7B9F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C02900-A3C7-4072-ACBA-21A5784F69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90362-2CE0-49BD-9825-79A5DB267BFC}" type="datetimeFigureOut">
              <a:rPr lang="de-AT" smtClean="0"/>
              <a:t>06.03.2025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04B9F2-C269-4CDA-A1E2-E062EF5D52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273B9B-FAEA-40A7-AE29-869AEFF80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61B1E-854D-4F35-9CD0-D778CCCA52D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05551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27D087-0FDE-43FE-8EDE-86CF7EAC58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Match </a:t>
            </a:r>
            <a:r>
              <a:rPr lang="de-DE" dirty="0" err="1"/>
              <a:t>HeDFT</a:t>
            </a:r>
            <a:r>
              <a:rPr lang="de-DE" dirty="0"/>
              <a:t> and neutral </a:t>
            </a:r>
            <a:r>
              <a:rPr lang="de-DE" dirty="0" err="1"/>
              <a:t>dynamics</a:t>
            </a:r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4165A7-CCFC-40F9-8FAE-9739B51A65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00991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0E02E2-662C-43EB-B191-37296234D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81C9C8-586F-416A-8C53-F43C17159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Sigma0</a:t>
            </a:r>
            <a:r>
              <a:rPr lang="de-DE" dirty="0"/>
              <a:t> = 60 </a:t>
            </a:r>
            <a:r>
              <a:rPr lang="de-DE" dirty="0" err="1"/>
              <a:t>Angström^2</a:t>
            </a:r>
            <a:endParaRPr lang="de-DE" dirty="0"/>
          </a:p>
          <a:p>
            <a:r>
              <a:rPr lang="de-DE" dirty="0"/>
              <a:t>Emin </a:t>
            </a:r>
            <a:r>
              <a:rPr lang="de-DE" dirty="0" err="1"/>
              <a:t>corresponds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100 m/s </a:t>
            </a:r>
            <a:r>
              <a:rPr lang="de-DE" dirty="0" err="1"/>
              <a:t>limit</a:t>
            </a:r>
            <a:r>
              <a:rPr lang="de-DE" dirty="0"/>
              <a:t> </a:t>
            </a:r>
            <a:r>
              <a:rPr lang="de-DE" dirty="0" err="1"/>
              <a:t>velocity</a:t>
            </a:r>
            <a:endParaRPr lang="de-DE" dirty="0"/>
          </a:p>
          <a:p>
            <a:pPr marL="0" indent="0">
              <a:buNone/>
            </a:pPr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9B1C169-A818-442E-9C20-A225AE3DD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34" y="2951421"/>
            <a:ext cx="6196012" cy="356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793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D3239F-D220-41D9-ADD7-61C91D7FE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Ion </a:t>
            </a:r>
            <a:r>
              <a:rPr lang="de-DE" dirty="0" err="1"/>
              <a:t>dynamics</a:t>
            </a:r>
            <a:r>
              <a:rPr lang="de-DE" dirty="0"/>
              <a:t> 	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F2F6E0-D56C-4A15-A77E-758279E4C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Sigma0</a:t>
            </a:r>
            <a:r>
              <a:rPr lang="de-DE" dirty="0"/>
              <a:t> = 10 Angström ^2</a:t>
            </a:r>
          </a:p>
          <a:p>
            <a:r>
              <a:rPr lang="de-DE" dirty="0" err="1"/>
              <a:t>Two</a:t>
            </a:r>
            <a:r>
              <a:rPr lang="de-DE" dirty="0"/>
              <a:t> he </a:t>
            </a:r>
            <a:r>
              <a:rPr lang="de-DE" dirty="0" err="1"/>
              <a:t>charges</a:t>
            </a:r>
            <a:endParaRPr lang="de-DE" dirty="0"/>
          </a:p>
          <a:p>
            <a:r>
              <a:rPr lang="de-DE" dirty="0" err="1"/>
              <a:t>Highly</a:t>
            </a:r>
            <a:r>
              <a:rPr lang="de-DE" dirty="0"/>
              <a:t> </a:t>
            </a:r>
            <a:r>
              <a:rPr lang="de-DE" dirty="0" err="1"/>
              <a:t>charge</a:t>
            </a:r>
            <a:r>
              <a:rPr lang="de-DE" dirty="0"/>
              <a:t> </a:t>
            </a:r>
            <a:r>
              <a:rPr lang="de-DE" dirty="0" err="1"/>
              <a:t>iodine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46BB68A-F7BF-4003-8B77-4983A9E83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974" y="2505364"/>
            <a:ext cx="6820852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327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E894AD-E374-4EF9-A85A-8B109D4A0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Neutral </a:t>
            </a:r>
            <a:r>
              <a:rPr lang="de-DE" dirty="0" err="1"/>
              <a:t>traces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431FE7-CB77-4967-8B28-55FF267C9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7CE1C47-B5C7-487E-AD6C-2DC631765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36" y="1722696"/>
            <a:ext cx="10345594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846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25210C-FB9C-4351-BCC2-6D127DB31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7C74EA-D888-438E-82C7-6CF6DFFA2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C76B925-1C45-45E6-9399-700A2CA1C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47" y="642077"/>
            <a:ext cx="10917174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954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CA8929-5231-49D1-AC14-A23ADCCAC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Test </a:t>
            </a:r>
            <a:r>
              <a:rPr lang="de-DE" dirty="0" err="1"/>
              <a:t>sigma</a:t>
            </a:r>
            <a:r>
              <a:rPr lang="de-DE" dirty="0"/>
              <a:t> </a:t>
            </a:r>
            <a:r>
              <a:rPr lang="de-DE" dirty="0" err="1"/>
              <a:t>const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ions</a:t>
            </a:r>
            <a:r>
              <a:rPr lang="de-DE" dirty="0"/>
              <a:t> (</a:t>
            </a:r>
            <a:r>
              <a:rPr lang="de-DE" dirty="0" err="1"/>
              <a:t>sigma0</a:t>
            </a:r>
            <a:r>
              <a:rPr lang="de-DE" dirty="0"/>
              <a:t> 1900 </a:t>
            </a:r>
            <a:r>
              <a:rPr lang="de-DE" dirty="0" err="1"/>
              <a:t>Angström^2</a:t>
            </a:r>
            <a:r>
              <a:rPr lang="de-DE" dirty="0"/>
              <a:t>)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3B5FDF-FE55-46CC-95EE-C5F5DA31B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1F97260-A878-422D-9C6B-01800223F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933" y="1654496"/>
            <a:ext cx="8958509" cy="403439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D877926A-008E-4E08-989B-88E539908B2A}"/>
              </a:ext>
            </a:extLst>
          </p:cNvPr>
          <p:cNvSpPr txBox="1"/>
          <p:nvPr/>
        </p:nvSpPr>
        <p:spPr>
          <a:xfrm>
            <a:off x="465667" y="6214533"/>
            <a:ext cx="45871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I+He</a:t>
            </a:r>
            <a:r>
              <a:rPr lang="de-DE" dirty="0"/>
              <a:t> </a:t>
            </a:r>
            <a:r>
              <a:rPr lang="de-DE" dirty="0" err="1"/>
              <a:t>ion</a:t>
            </a:r>
            <a:r>
              <a:rPr lang="de-DE" dirty="0"/>
              <a:t> do not </a:t>
            </a:r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out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droplet</a:t>
            </a:r>
            <a:r>
              <a:rPr lang="de-DE" dirty="0"/>
              <a:t> </a:t>
            </a:r>
            <a:r>
              <a:rPr lang="de-DE" dirty="0" err="1"/>
              <a:t>here</a:t>
            </a:r>
            <a:br>
              <a:rPr lang="de-DE" dirty="0"/>
            </a:br>
            <a:r>
              <a:rPr lang="de-DE" dirty="0"/>
              <a:t>(</a:t>
            </a:r>
            <a:r>
              <a:rPr lang="de-DE" dirty="0" err="1"/>
              <a:t>no</a:t>
            </a:r>
            <a:r>
              <a:rPr lang="de-DE" dirty="0"/>
              <a:t> extra He </a:t>
            </a:r>
            <a:r>
              <a:rPr lang="de-DE" dirty="0" err="1"/>
              <a:t>ions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extra </a:t>
            </a:r>
            <a:r>
              <a:rPr lang="de-DE" dirty="0" err="1"/>
              <a:t>charges</a:t>
            </a:r>
            <a:r>
              <a:rPr lang="de-DE" dirty="0"/>
              <a:t>)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045751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49A907-C3A4-4D5A-BAEA-13D7F7959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Check </a:t>
            </a:r>
            <a:r>
              <a:rPr lang="de-DE" dirty="0" err="1"/>
              <a:t>what</a:t>
            </a:r>
            <a:r>
              <a:rPr lang="de-DE" dirty="0"/>
              <a:t> final </a:t>
            </a:r>
            <a:r>
              <a:rPr lang="de-DE" dirty="0" err="1"/>
              <a:t>ion</a:t>
            </a:r>
            <a:r>
              <a:rPr lang="de-DE" dirty="0"/>
              <a:t> </a:t>
            </a:r>
            <a:r>
              <a:rPr lang="de-DE" dirty="0" err="1"/>
              <a:t>velocities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be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031CC7-E1D7-4D18-A727-802A1B7BE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9A446B7-AE1A-4602-B625-70A2368E6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99" y="1407292"/>
            <a:ext cx="9508067" cy="4043415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3FD49A02-3D6A-46C2-8ADB-9686B8DF040A}"/>
              </a:ext>
            </a:extLst>
          </p:cNvPr>
          <p:cNvSpPr txBox="1"/>
          <p:nvPr/>
        </p:nvSpPr>
        <p:spPr>
          <a:xfrm>
            <a:off x="550333" y="6239933"/>
            <a:ext cx="64186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ym typeface="Wingdings" panose="05000000000000000000" pitchFamily="2" charset="2"/>
              </a:rPr>
              <a:t> </a:t>
            </a:r>
            <a:r>
              <a:rPr lang="de-DE" dirty="0" err="1">
                <a:sym typeface="Wingdings" panose="05000000000000000000" pitchFamily="2" charset="2"/>
              </a:rPr>
              <a:t>Interatomic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distance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much</a:t>
            </a:r>
            <a:r>
              <a:rPr lang="de-DE" dirty="0">
                <a:sym typeface="Wingdings" panose="05000000000000000000" pitchFamily="2" charset="2"/>
              </a:rPr>
              <a:t> larger </a:t>
            </a:r>
            <a:r>
              <a:rPr lang="de-DE" dirty="0" err="1">
                <a:sym typeface="Wingdings" panose="05000000000000000000" pitchFamily="2" charset="2"/>
              </a:rPr>
              <a:t>than</a:t>
            </a:r>
            <a:r>
              <a:rPr lang="de-DE" dirty="0">
                <a:sym typeface="Wingdings" panose="05000000000000000000" pitchFamily="2" charset="2"/>
              </a:rPr>
              <a:t> 9 Angström </a:t>
            </a:r>
            <a:r>
              <a:rPr lang="de-DE" dirty="0" err="1">
                <a:sym typeface="Wingdings" panose="05000000000000000000" pitchFamily="2" charset="2"/>
              </a:rPr>
              <a:t>for</a:t>
            </a:r>
            <a:r>
              <a:rPr lang="de-DE" dirty="0">
                <a:sym typeface="Wingdings" panose="05000000000000000000" pitchFamily="2" charset="2"/>
              </a:rPr>
              <a:t> all </a:t>
            </a:r>
            <a:r>
              <a:rPr lang="de-DE" dirty="0" err="1">
                <a:sym typeface="Wingdings" panose="05000000000000000000" pitchFamily="2" charset="2"/>
              </a:rPr>
              <a:t>ions</a:t>
            </a:r>
            <a:br>
              <a:rPr lang="de-DE" dirty="0">
                <a:sym typeface="Wingdings" panose="05000000000000000000" pitchFamily="2" charset="2"/>
              </a:rPr>
            </a:br>
            <a:r>
              <a:rPr lang="de-DE" dirty="0" err="1">
                <a:sym typeface="Wingdings" panose="05000000000000000000" pitchFamily="2" charset="2"/>
              </a:rPr>
              <a:t>this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caused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by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mimicing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HeDFT</a:t>
            </a:r>
            <a:r>
              <a:rPr lang="de-DE" dirty="0">
                <a:sym typeface="Wingdings" panose="05000000000000000000" pitchFamily="2" charset="2"/>
              </a:rPr>
              <a:t> neutral </a:t>
            </a:r>
            <a:r>
              <a:rPr lang="de-DE" dirty="0" err="1">
                <a:sym typeface="Wingdings" panose="05000000000000000000" pitchFamily="2" charset="2"/>
              </a:rPr>
              <a:t>dynamics</a:t>
            </a:r>
            <a:endParaRPr lang="de-AT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FCB04E4-BD0C-4599-9DD2-7C7CA6D9848C}"/>
              </a:ext>
            </a:extLst>
          </p:cNvPr>
          <p:cNvSpPr txBox="1"/>
          <p:nvPr/>
        </p:nvSpPr>
        <p:spPr>
          <a:xfrm>
            <a:off x="6934200" y="6019800"/>
            <a:ext cx="57080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Only</a:t>
            </a:r>
            <a:r>
              <a:rPr lang="de-DE" dirty="0"/>
              <a:t>  </a:t>
            </a:r>
            <a:r>
              <a:rPr lang="de-DE" dirty="0" err="1"/>
              <a:t>capture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neutrals</a:t>
            </a:r>
            <a:r>
              <a:rPr lang="de-DE" dirty="0"/>
              <a:t> </a:t>
            </a:r>
            <a:r>
              <a:rPr lang="de-DE" dirty="0" err="1"/>
              <a:t>close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9 Angström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explain</a:t>
            </a:r>
            <a:br>
              <a:rPr lang="de-DE" dirty="0"/>
            </a:br>
            <a:r>
              <a:rPr lang="de-DE" dirty="0" err="1"/>
              <a:t>the</a:t>
            </a:r>
            <a:r>
              <a:rPr lang="de-DE" dirty="0"/>
              <a:t> final </a:t>
            </a:r>
            <a:r>
              <a:rPr lang="de-DE" dirty="0" err="1"/>
              <a:t>ion</a:t>
            </a:r>
            <a:r>
              <a:rPr lang="de-DE" dirty="0"/>
              <a:t> </a:t>
            </a:r>
            <a:r>
              <a:rPr lang="de-DE" dirty="0" err="1"/>
              <a:t>velocities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568304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74DDF2-53CD-41F4-8EE7-917A9AC0C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Test 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15A95C-46B7-41BD-BBCF-90DAF12A6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Stop </a:t>
            </a:r>
            <a:r>
              <a:rPr lang="de-DE" dirty="0" err="1"/>
              <a:t>mimicking</a:t>
            </a:r>
            <a:r>
              <a:rPr lang="de-DE" dirty="0"/>
              <a:t> </a:t>
            </a:r>
            <a:r>
              <a:rPr lang="de-DE" dirty="0" err="1"/>
              <a:t>HeDFT</a:t>
            </a:r>
            <a:r>
              <a:rPr lang="de-DE" dirty="0"/>
              <a:t> </a:t>
            </a:r>
            <a:r>
              <a:rPr lang="de-DE" dirty="0" err="1"/>
              <a:t>before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interatomic</a:t>
            </a:r>
            <a:r>
              <a:rPr lang="de-DE" dirty="0"/>
              <a:t> </a:t>
            </a:r>
            <a:r>
              <a:rPr lang="de-DE" dirty="0" err="1"/>
              <a:t>distance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equal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9 Angström</a:t>
            </a:r>
          </a:p>
          <a:p>
            <a:r>
              <a:rPr lang="de-DE" dirty="0" err="1"/>
              <a:t>Introduce</a:t>
            </a:r>
            <a:r>
              <a:rPr lang="de-DE" dirty="0"/>
              <a:t> a </a:t>
            </a:r>
            <a:r>
              <a:rPr lang="de-DE" dirty="0" err="1"/>
              <a:t>dimple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X potential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depth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35 </a:t>
            </a:r>
            <a:r>
              <a:rPr lang="de-DE" dirty="0" err="1"/>
              <a:t>meV</a:t>
            </a:r>
            <a:endParaRPr lang="de-DE" dirty="0"/>
          </a:p>
          <a:p>
            <a:r>
              <a:rPr lang="de-DE" dirty="0"/>
              <a:t>This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able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capture</a:t>
            </a:r>
            <a:r>
              <a:rPr lang="de-DE" dirty="0"/>
              <a:t> I </a:t>
            </a:r>
            <a:r>
              <a:rPr lang="de-DE" dirty="0" err="1"/>
              <a:t>atoms</a:t>
            </a:r>
            <a:r>
              <a:rPr lang="de-DE" dirty="0"/>
              <a:t> </a:t>
            </a:r>
            <a:r>
              <a:rPr lang="de-DE" dirty="0" err="1"/>
              <a:t>moving</a:t>
            </a:r>
            <a:r>
              <a:rPr lang="de-DE" dirty="0"/>
              <a:t> at 210 m/s</a:t>
            </a:r>
            <a:br>
              <a:rPr lang="de-DE" dirty="0"/>
            </a:br>
            <a:r>
              <a:rPr lang="de-DE" dirty="0"/>
              <a:t>(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do at </a:t>
            </a:r>
            <a:r>
              <a:rPr lang="de-DE" dirty="0" err="1"/>
              <a:t>about</a:t>
            </a:r>
            <a:r>
              <a:rPr lang="de-DE" dirty="0"/>
              <a:t> 0.8 ps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HeDFT</a:t>
            </a:r>
            <a:r>
              <a:rPr lang="de-DE" dirty="0"/>
              <a:t> neutral </a:t>
            </a:r>
            <a:r>
              <a:rPr lang="de-DE" dirty="0" err="1"/>
              <a:t>sim</a:t>
            </a:r>
            <a:r>
              <a:rPr lang="de-DE" dirty="0"/>
              <a:t>.)</a:t>
            </a:r>
          </a:p>
          <a:p>
            <a:r>
              <a:rPr lang="pl-PL" dirty="0"/>
              <a:t>127 u * (210 m/s)^2/ 2 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physical</a:t>
            </a:r>
            <a:r>
              <a:rPr lang="de-DE" dirty="0"/>
              <a:t> </a:t>
            </a:r>
            <a:r>
              <a:rPr lang="de-DE" dirty="0" err="1"/>
              <a:t>meaning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?</a:t>
            </a:r>
            <a:br>
              <a:rPr lang="de-DE" dirty="0"/>
            </a:br>
            <a:r>
              <a:rPr lang="de-DE" dirty="0">
                <a:sym typeface="Wingdings" panose="05000000000000000000" pitchFamily="2" charset="2"/>
              </a:rPr>
              <a:t> </a:t>
            </a:r>
            <a:r>
              <a:rPr lang="de-DE" dirty="0" err="1">
                <a:sym typeface="Wingdings" panose="05000000000000000000" pitchFamily="2" charset="2"/>
              </a:rPr>
              <a:t>collision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of</a:t>
            </a:r>
            <a:r>
              <a:rPr lang="de-DE" dirty="0">
                <a:sym typeface="Wingdings" panose="05000000000000000000" pitchFamily="2" charset="2"/>
              </a:rPr>
              <a:t> I </a:t>
            </a:r>
            <a:r>
              <a:rPr lang="de-DE" dirty="0" err="1">
                <a:sym typeface="Wingdings" panose="05000000000000000000" pitchFamily="2" charset="2"/>
              </a:rPr>
              <a:t>atoms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with</a:t>
            </a:r>
            <a:r>
              <a:rPr lang="de-DE" dirty="0">
                <a:sym typeface="Wingdings" panose="05000000000000000000" pitchFamily="2" charset="2"/>
              </a:rPr>
              <a:t> He </a:t>
            </a:r>
            <a:r>
              <a:rPr lang="de-DE" dirty="0" err="1">
                <a:sym typeface="Wingdings" panose="05000000000000000000" pitchFamily="2" charset="2"/>
              </a:rPr>
              <a:t>density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leads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to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crossing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to</a:t>
            </a:r>
            <a:r>
              <a:rPr lang="de-DE" dirty="0">
                <a:sym typeface="Wingdings" panose="05000000000000000000" pitchFamily="2" charset="2"/>
              </a:rPr>
              <a:t> X- </a:t>
            </a:r>
            <a:r>
              <a:rPr lang="de-DE" dirty="0" err="1">
                <a:sym typeface="Wingdings" panose="05000000000000000000" pitchFamily="2" charset="2"/>
              </a:rPr>
              <a:t>state</a:t>
            </a:r>
            <a:br>
              <a:rPr lang="de-DE" dirty="0">
                <a:sym typeface="Wingdings" panose="05000000000000000000" pitchFamily="2" charset="2"/>
              </a:rPr>
            </a:br>
            <a:r>
              <a:rPr lang="de-DE" dirty="0" err="1">
                <a:sym typeface="Wingdings" panose="05000000000000000000" pitchFamily="2" charset="2"/>
              </a:rPr>
              <a:t>why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should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there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be</a:t>
            </a:r>
            <a:r>
              <a:rPr lang="de-DE" dirty="0">
                <a:sym typeface="Wingdings" panose="05000000000000000000" pitchFamily="2" charset="2"/>
              </a:rPr>
              <a:t> a </a:t>
            </a:r>
            <a:r>
              <a:rPr lang="de-DE" dirty="0" err="1">
                <a:sym typeface="Wingdings" panose="05000000000000000000" pitchFamily="2" charset="2"/>
              </a:rPr>
              <a:t>decrease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of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ion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velocities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over</a:t>
            </a:r>
            <a:r>
              <a:rPr lang="de-DE" dirty="0">
                <a:sym typeface="Wingdings" panose="05000000000000000000" pitchFamily="2" charset="2"/>
              </a:rPr>
              <a:t> time?</a:t>
            </a:r>
            <a:br>
              <a:rPr lang="de-DE" dirty="0">
                <a:sym typeface="Wingdings" panose="05000000000000000000" pitchFamily="2" charset="2"/>
              </a:rPr>
            </a:br>
            <a:r>
              <a:rPr lang="de-DE" dirty="0" err="1">
                <a:sym typeface="Wingdings" panose="05000000000000000000" pitchFamily="2" charset="2"/>
              </a:rPr>
              <a:t>Sinking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of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recombined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molecule</a:t>
            </a:r>
            <a:r>
              <a:rPr lang="de-DE" dirty="0">
                <a:sym typeface="Wingdings" panose="05000000000000000000" pitchFamily="2" charset="2"/>
              </a:rPr>
              <a:t> back </a:t>
            </a:r>
            <a:r>
              <a:rPr lang="de-DE" dirty="0" err="1">
                <a:sym typeface="Wingdings" panose="05000000000000000000" pitchFamily="2" charset="2"/>
              </a:rPr>
              <a:t>into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droplet</a:t>
            </a:r>
            <a:r>
              <a:rPr lang="de-DE" dirty="0">
                <a:sym typeface="Wingdings" panose="05000000000000000000" pitchFamily="2" charset="2"/>
              </a:rPr>
              <a:t>!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28944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A4B045-69D0-478D-9D94-F8EC1BC32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Kinda</a:t>
            </a:r>
            <a:r>
              <a:rPr lang="de-DE" dirty="0"/>
              <a:t> </a:t>
            </a:r>
            <a:r>
              <a:rPr lang="de-DE" dirty="0" err="1"/>
              <a:t>works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6351BB-4CA9-40ED-B405-3278C3CE2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4BC18E9-5074-4F67-A3B0-270E382C4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65" y="1898602"/>
            <a:ext cx="10490201" cy="490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011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D1BE1A-9BAC-48B9-A175-D21F9B8F9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Sigma(v), </a:t>
            </a:r>
            <a:r>
              <a:rPr lang="de-DE" dirty="0" err="1"/>
              <a:t>sigma0</a:t>
            </a:r>
            <a:r>
              <a:rPr lang="de-DE" dirty="0"/>
              <a:t> = 1900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35FB04-331B-40F8-9B41-186485885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72AC057-681D-471E-AFDA-47F6CC918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8" y="1597371"/>
            <a:ext cx="9728201" cy="483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311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C4F817-0A4C-45CA-AA83-3D3CDBCF5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Sigma(v), </a:t>
            </a:r>
            <a:r>
              <a:rPr lang="de-DE" dirty="0" err="1"/>
              <a:t>sigma0</a:t>
            </a:r>
            <a:r>
              <a:rPr lang="de-DE" dirty="0"/>
              <a:t> = 800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F8FD6E-1A09-410F-9151-43985AD59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I+He</a:t>
            </a:r>
            <a:r>
              <a:rPr lang="de-DE" dirty="0"/>
              <a:t> </a:t>
            </a:r>
            <a:r>
              <a:rPr lang="de-DE" dirty="0" err="1"/>
              <a:t>ions</a:t>
            </a:r>
            <a:r>
              <a:rPr lang="de-DE" dirty="0"/>
              <a:t> do not </a:t>
            </a:r>
            <a:r>
              <a:rPr lang="de-DE" dirty="0" err="1"/>
              <a:t>show</a:t>
            </a:r>
            <a:r>
              <a:rPr lang="de-DE" dirty="0"/>
              <a:t> </a:t>
            </a:r>
            <a:r>
              <a:rPr lang="de-DE" dirty="0" err="1"/>
              <a:t>up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5C47CC2-82D6-4619-967C-A20193398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266" y="2335265"/>
            <a:ext cx="8448369" cy="421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505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D2F72E-1AA1-4F33-8A21-519E39E9C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Problem: initial </a:t>
            </a:r>
            <a:r>
              <a:rPr lang="de-DE" dirty="0" err="1"/>
              <a:t>velocity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ions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CD8487-5434-4586-B45F-A260D5048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v0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too</a:t>
            </a:r>
            <a:r>
              <a:rPr lang="de-DE" dirty="0"/>
              <a:t> </a:t>
            </a:r>
            <a:r>
              <a:rPr lang="de-DE" dirty="0" err="1"/>
              <a:t>low</a:t>
            </a:r>
            <a:r>
              <a:rPr lang="de-DE" dirty="0"/>
              <a:t>, so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crosssection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extremely</a:t>
            </a:r>
            <a:r>
              <a:rPr lang="de-DE" dirty="0"/>
              <a:t> large at </a:t>
            </a:r>
            <a:r>
              <a:rPr lang="de-DE" dirty="0" err="1"/>
              <a:t>the</a:t>
            </a:r>
            <a:r>
              <a:rPr lang="de-DE" dirty="0"/>
              <a:t> initial </a:t>
            </a:r>
            <a:r>
              <a:rPr lang="de-DE" dirty="0" err="1"/>
              <a:t>velocity</a:t>
            </a:r>
            <a:r>
              <a:rPr lang="de-DE" dirty="0"/>
              <a:t>, </a:t>
            </a:r>
            <a:r>
              <a:rPr lang="de-DE" dirty="0" err="1"/>
              <a:t>ions</a:t>
            </a:r>
            <a:r>
              <a:rPr lang="de-DE" dirty="0"/>
              <a:t> will </a:t>
            </a:r>
            <a:r>
              <a:rPr lang="de-DE" dirty="0" err="1"/>
              <a:t>stay</a:t>
            </a:r>
            <a:r>
              <a:rPr lang="de-DE" dirty="0"/>
              <a:t> </a:t>
            </a:r>
            <a:r>
              <a:rPr lang="de-DE" dirty="0" err="1"/>
              <a:t>trapped</a:t>
            </a:r>
            <a:r>
              <a:rPr lang="de-DE" dirty="0"/>
              <a:t>, </a:t>
            </a:r>
            <a:r>
              <a:rPr lang="de-DE" dirty="0" err="1"/>
              <a:t>because</a:t>
            </a:r>
            <a:r>
              <a:rPr lang="de-DE" dirty="0"/>
              <a:t> an extrem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collisions</a:t>
            </a:r>
            <a:r>
              <a:rPr lang="de-DE" dirty="0"/>
              <a:t> will </a:t>
            </a:r>
            <a:r>
              <a:rPr lang="de-DE" dirty="0" err="1"/>
              <a:t>occur</a:t>
            </a:r>
            <a:endParaRPr lang="de-DE" dirty="0"/>
          </a:p>
          <a:p>
            <a:r>
              <a:rPr lang="de-DE" dirty="0"/>
              <a:t>So </a:t>
            </a:r>
            <a:r>
              <a:rPr lang="de-DE" dirty="0" err="1"/>
              <a:t>far</a:t>
            </a:r>
            <a:r>
              <a:rPr lang="de-DE" dirty="0"/>
              <a:t>, </a:t>
            </a:r>
            <a:r>
              <a:rPr lang="de-DE" dirty="0" err="1"/>
              <a:t>ions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zero</a:t>
            </a:r>
            <a:r>
              <a:rPr lang="de-DE" dirty="0"/>
              <a:t> initial </a:t>
            </a:r>
            <a:r>
              <a:rPr lang="de-DE" dirty="0" err="1"/>
              <a:t>kinetic</a:t>
            </a:r>
            <a:r>
              <a:rPr lang="de-DE" dirty="0"/>
              <a:t> </a:t>
            </a:r>
            <a:r>
              <a:rPr lang="de-DE" dirty="0" err="1"/>
              <a:t>energy</a:t>
            </a:r>
            <a:r>
              <a:rPr lang="de-DE" dirty="0"/>
              <a:t>, </a:t>
            </a:r>
            <a:r>
              <a:rPr lang="de-DE" dirty="0" err="1"/>
              <a:t>except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kinetic</a:t>
            </a:r>
            <a:r>
              <a:rPr lang="de-DE" dirty="0"/>
              <a:t> </a:t>
            </a:r>
            <a:r>
              <a:rPr lang="de-DE" dirty="0" err="1"/>
              <a:t>energy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neutrals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8B16CD2-0105-4393-A940-1A7221E70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35" y="3799316"/>
            <a:ext cx="1734251" cy="1339951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647E7507-CC3F-48E1-A146-E2B47645B2C3}"/>
              </a:ext>
            </a:extLst>
          </p:cNvPr>
          <p:cNvSpPr txBox="1"/>
          <p:nvPr/>
        </p:nvSpPr>
        <p:spPr>
          <a:xfrm>
            <a:off x="5266267" y="4250267"/>
            <a:ext cx="23374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Sigma0</a:t>
            </a:r>
            <a:r>
              <a:rPr lang="de-DE" dirty="0"/>
              <a:t> = 800 </a:t>
            </a:r>
          </a:p>
          <a:p>
            <a:r>
              <a:rPr lang="de-DE" dirty="0"/>
              <a:t>Sigma(v) = </a:t>
            </a:r>
            <a:r>
              <a:rPr lang="de-DE" dirty="0" err="1"/>
              <a:t>sigma0</a:t>
            </a:r>
            <a:r>
              <a:rPr lang="de-DE" dirty="0"/>
              <a:t> v^-2</a:t>
            </a:r>
          </a:p>
          <a:p>
            <a:endParaRPr lang="de-DE" dirty="0"/>
          </a:p>
          <a:p>
            <a:endParaRPr lang="de-AT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165E867-A73C-4A4B-991B-50F17967F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0220" y="3674533"/>
            <a:ext cx="3702907" cy="2842422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30A3D560-8ECA-4970-B561-5E9FA897C662}"/>
              </a:ext>
            </a:extLst>
          </p:cNvPr>
          <p:cNvSpPr txBox="1"/>
          <p:nvPr/>
        </p:nvSpPr>
        <p:spPr>
          <a:xfrm>
            <a:off x="5071533" y="5528733"/>
            <a:ext cx="25261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Since</a:t>
            </a:r>
            <a:r>
              <a:rPr lang="de-DE" dirty="0"/>
              <a:t> </a:t>
            </a:r>
            <a:r>
              <a:rPr lang="de-DE" dirty="0" err="1"/>
              <a:t>landau</a:t>
            </a:r>
            <a:r>
              <a:rPr lang="de-DE" dirty="0"/>
              <a:t> </a:t>
            </a:r>
            <a:r>
              <a:rPr lang="de-DE" dirty="0" err="1"/>
              <a:t>velocity</a:t>
            </a:r>
            <a:r>
              <a:rPr lang="de-DE" dirty="0"/>
              <a:t> </a:t>
            </a:r>
            <a:r>
              <a:rPr lang="de-DE" dirty="0" err="1"/>
              <a:t>is</a:t>
            </a:r>
            <a:br>
              <a:rPr lang="de-DE" dirty="0"/>
            </a:br>
            <a:r>
              <a:rPr lang="de-DE" dirty="0"/>
              <a:t>0.9 A/ps</a:t>
            </a:r>
            <a:br>
              <a:rPr lang="de-DE" dirty="0"/>
            </a:br>
            <a:r>
              <a:rPr lang="de-DE" dirty="0" err="1"/>
              <a:t>the</a:t>
            </a:r>
            <a:r>
              <a:rPr lang="de-DE" dirty="0"/>
              <a:t> initial </a:t>
            </a:r>
            <a:r>
              <a:rPr lang="de-DE" dirty="0" err="1"/>
              <a:t>crosssection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endParaRPr lang="de-AT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FADE37F-9078-4794-A287-AF2E29C00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4133" y="4301068"/>
            <a:ext cx="2955217" cy="221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301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CEBBDD-0B3D-46BE-83AF-AFE668827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67" y="170392"/>
            <a:ext cx="10515600" cy="1325563"/>
          </a:xfrm>
        </p:spPr>
        <p:txBody>
          <a:bodyPr/>
          <a:lstStyle/>
          <a:p>
            <a:r>
              <a:rPr lang="de-DE" dirty="0"/>
              <a:t>Run </a:t>
            </a:r>
            <a:r>
              <a:rPr lang="de-DE" dirty="0" err="1"/>
              <a:t>simulation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additional he </a:t>
            </a:r>
            <a:r>
              <a:rPr lang="de-DE" dirty="0" err="1"/>
              <a:t>charges</a:t>
            </a:r>
            <a:r>
              <a:rPr lang="de-DE" dirty="0"/>
              <a:t> (3)</a:t>
            </a:r>
            <a:br>
              <a:rPr lang="de-DE" dirty="0"/>
            </a:br>
            <a:r>
              <a:rPr lang="de-DE" dirty="0"/>
              <a:t>and high </a:t>
            </a:r>
            <a:r>
              <a:rPr lang="de-DE" dirty="0" err="1"/>
              <a:t>charge</a:t>
            </a:r>
            <a:r>
              <a:rPr lang="de-DE" dirty="0"/>
              <a:t> </a:t>
            </a:r>
            <a:r>
              <a:rPr lang="de-DE" dirty="0" err="1"/>
              <a:t>I2^3</a:t>
            </a:r>
            <a:r>
              <a:rPr lang="de-DE" dirty="0"/>
              <a:t>+</a:t>
            </a:r>
            <a:endParaRPr lang="de-AT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481A8D4-6048-458E-B417-1A41C9FA4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3137"/>
            <a:ext cx="5706533" cy="219524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14EE6C7F-4274-4FFA-9714-8AC97CA9F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3133" y="3661354"/>
            <a:ext cx="7142917" cy="3065737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EA2F3DC4-9FF9-4B5B-AB2A-FCE96044F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640" y="1159932"/>
            <a:ext cx="3700390" cy="288845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8A2DA353-D6EC-42B3-B767-DF34BBE6A5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5733" y="4408235"/>
            <a:ext cx="5266267" cy="200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039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</Words>
  <Application>Microsoft Office PowerPoint</Application>
  <PresentationFormat>Breitbild</PresentationFormat>
  <Paragraphs>31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</vt:lpstr>
      <vt:lpstr>Match HeDFT and neutral dynamics</vt:lpstr>
      <vt:lpstr>PowerPoint-Präsentation</vt:lpstr>
      <vt:lpstr>Ion dynamics  </vt:lpstr>
      <vt:lpstr>Neutral traces</vt:lpstr>
      <vt:lpstr>PowerPoint-Präsentation</vt:lpstr>
      <vt:lpstr>Test sigma const for ions (sigma0 1900 Angström^2)</vt:lpstr>
      <vt:lpstr>Check what final ion velocities would be</vt:lpstr>
      <vt:lpstr>Test </vt:lpstr>
      <vt:lpstr>Kinda works</vt:lpstr>
      <vt:lpstr>Sigma(v), sigma0 = 1900</vt:lpstr>
      <vt:lpstr>Sigma(v), sigma0 = 800</vt:lpstr>
      <vt:lpstr>Problem: initial velocity of ions</vt:lpstr>
      <vt:lpstr>Run simulation with additional he charges (3) and high charge I2^3+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Match HeDFT and neutral dynamics</dc:title>
  <dc:creator>Michael St</dc:creator>
  <cp:lastModifiedBy>Michael St</cp:lastModifiedBy>
  <cp:revision>15</cp:revision>
  <dcterms:created xsi:type="dcterms:W3CDTF">2025-03-04T11:21:56Z</dcterms:created>
  <dcterms:modified xsi:type="dcterms:W3CDTF">2025-03-06T13:02:44Z</dcterms:modified>
</cp:coreProperties>
</file>