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0" r:id="rId6"/>
    <p:sldId id="257" r:id="rId7"/>
    <p:sldId id="258" r:id="rId8"/>
    <p:sldId id="264" r:id="rId9"/>
    <p:sldId id="271" r:id="rId10"/>
    <p:sldId id="272" r:id="rId11"/>
    <p:sldId id="269" r:id="rId12"/>
    <p:sldId id="265" r:id="rId13"/>
    <p:sldId id="266" r:id="rId14"/>
    <p:sldId id="267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2BB69-CAE4-5C35-104A-8AAF46753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406BBE-496E-589E-2DE8-3D2DECF61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31750B-CE51-BE16-CB44-2CA6CCF3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3B70E4-B52F-5FCD-5CA7-D32F4B1E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19438B-422D-5DDD-A57A-F45B45D8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56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F0B76-D676-D62B-055E-43EC257E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A577F3-F20C-A5F0-79D8-A214543DE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D6ED1A-FD71-A363-6883-919E2B4F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D009EA-E805-A25C-066C-71B9B15D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6643DF-ADCA-648C-BAE9-B8CB536E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44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A1AAD-C23C-96EE-9D41-4B208539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5C7A0F-CDAF-3724-39C1-7C5A573E9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1E70A7-467A-F394-748F-7B80B6069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45AF5A-3E37-2857-B7BA-F65D4F55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1B66B7-FB1E-C9BF-2060-4FE2616C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18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C286E-4DCC-053B-7643-0F166C8A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E69FD0-B9D9-6AD5-175A-7E6F955F1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F0C9F9-222B-E16F-8E62-0A4B78216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10C02C-EF33-C009-9716-FFD4AFCD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FFECC0-D887-3FEA-3B34-25D5DDA6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F7E692-3BB6-4AE3-5599-D2CDC585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18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52CDA-3B9E-F97B-33F0-5D4F8EA6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695049-7FBE-BC36-5238-43152218F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8ED264-EC8A-A6A3-01A9-B772527A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D3CC60-6614-A7DE-720D-7D463D4BA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070FFC-D6A2-6859-4E35-1E6A4BFCD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0F1DCD7-48DB-7AD3-5F6A-4968136A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825971-D983-0C0E-459B-512F1B6B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65A875D-2FCF-6E41-8005-17A98F43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44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777173-8746-C447-1027-2A81A3A5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6B7736-C2A1-C59A-7A41-AD770B44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D73C1A-B8AA-2CD5-3043-B244B564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187B4C-BE3D-30A0-70E8-97B7A561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86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F6227E-07B5-BAB4-B712-321B96B5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3F1939-7B08-8EE1-9489-2E3226B3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2D4D35-CDDD-045C-8FB3-927D3493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3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B4D83-6D10-52EC-A222-F521FE4A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578A8E-A107-6B00-0BF1-A9B520D57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C4BF75-EADF-5E3E-32C0-18F62C0BC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B00328-F74E-DFDA-86B0-64CDD56F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F15C24-CC65-D144-C6E0-3FB39FAC6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D3609F-56A7-C537-EBD9-BA095841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22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673EC-D90C-2306-C476-5F64D9224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362C1EF-1AAA-8002-A744-1ABAECE4E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E6E864-8735-012E-F549-7944F0100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01AA5B-24D1-A450-CBAE-B02F5E09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5D86E5-CA08-CEAD-F61F-9D11B569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3A587C-9C43-687D-E2E5-61515457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82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E9577-BDDA-48F4-944B-CBE307CC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8073E2-0957-DD46-F67F-58FD3138F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0BED48-1C78-BCB4-37CA-95B92ECB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3F8135-2742-69DC-F2AD-7F1639CD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AB96A0-195A-4315-7F3B-43D57948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76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29DF948-04B3-48BB-5925-46F0136B5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88AF94-F631-1232-09DA-B1A134803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02CBDA-2408-1E71-321D-D3275C708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437626-E0A3-6F4F-40D2-B47A460E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B83583-A175-9867-2DB6-C9B2D771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56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1C1F47-21B8-5140-4C21-A1E42C6B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F1C338-E6B4-F668-C455-FA0D19AB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BC357-0A05-CEFD-47F5-65DD501AA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F3728-2BD6-48AB-9851-70C48C83EF9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D22007-324C-21CB-6B35-99F16F999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E2B462-7891-5CDB-82BC-4B152BC7A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35629-0CA8-4751-B06B-2ECF3482C24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79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302A2-4538-235C-14D5-91A5A742A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FE2323-091D-068B-5E3B-2213661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2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FE73F7-01D4-1581-44DF-6C4701C0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Use </a:t>
            </a:r>
            <a:r>
              <a:rPr lang="de-AT" dirty="0" err="1"/>
              <a:t>constant</a:t>
            </a:r>
            <a:r>
              <a:rPr lang="de-AT" dirty="0"/>
              <a:t> </a:t>
            </a:r>
            <a:r>
              <a:rPr lang="de-AT" dirty="0" err="1"/>
              <a:t>sigma</a:t>
            </a:r>
            <a:r>
              <a:rPr lang="de-AT" dirty="0"/>
              <a:t>(v) = </a:t>
            </a:r>
            <a:r>
              <a:rPr lang="de-AT" dirty="0" err="1"/>
              <a:t>sigma0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59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Adjusting</a:t>
            </a:r>
            <a:r>
              <a:rPr lang="de-AT" dirty="0"/>
              <a:t> MD </a:t>
            </a:r>
            <a:r>
              <a:rPr lang="de-AT" dirty="0" err="1"/>
              <a:t>to</a:t>
            </a:r>
            <a:r>
              <a:rPr lang="de-AT" dirty="0"/>
              <a:t> fit </a:t>
            </a:r>
            <a:r>
              <a:rPr lang="de-AT" dirty="0" err="1"/>
              <a:t>DFT</a:t>
            </a:r>
            <a:r>
              <a:rPr lang="de-AT" dirty="0"/>
              <a:t> |v|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1743645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9 Angström</a:t>
            </a:r>
          </a:p>
          <a:p>
            <a:r>
              <a:rPr lang="de-AT" sz="1800" dirty="0"/>
              <a:t>N = 2000 (</a:t>
            </a:r>
            <a:r>
              <a:rPr lang="de-AT" sz="1800" dirty="0" err="1"/>
              <a:t>R_droplet</a:t>
            </a:r>
            <a:r>
              <a:rPr lang="de-AT" sz="1800" dirty="0"/>
              <a:t> = 27 Angström)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</a:t>
            </a:r>
            <a:r>
              <a:rPr lang="en-GB" sz="1800" b="0" i="0" dirty="0">
                <a:solidFill>
                  <a:srgbClr val="FF0000"/>
                </a:solidFill>
                <a:effectLst/>
                <a:latin typeface="Menlo"/>
              </a:rPr>
              <a:t>22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0.4;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0.1;</a:t>
            </a:r>
          </a:p>
          <a:p>
            <a:endParaRPr lang="de-AT" dirty="0"/>
          </a:p>
          <a:p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691FD0-C701-9680-E94D-B2511439B33D}"/>
              </a:ext>
            </a:extLst>
          </p:cNvPr>
          <p:cNvSpPr txBox="1"/>
          <p:nvPr/>
        </p:nvSpPr>
        <p:spPr>
          <a:xfrm>
            <a:off x="498190" y="3638682"/>
            <a:ext cx="215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Simulation VD: 131 u</a:t>
            </a:r>
            <a:endParaRPr lang="en-GB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11CB55D-E4B0-E6F4-7BC9-4FC36CF4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60" y="4293138"/>
            <a:ext cx="3727487" cy="239459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1A096580-4754-60EB-1B02-1C8096253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061" y="4754122"/>
            <a:ext cx="4533762" cy="153023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06EC7C7-861F-D185-03FB-F92C785F3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23" y="4508938"/>
            <a:ext cx="2717040" cy="209481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7D54CC69-8F34-C4F8-203F-EBA4CECBD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912" y="1518844"/>
            <a:ext cx="4712290" cy="278133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70D113C-9479-7DDA-394E-DC2EE66C6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259934"/>
            <a:ext cx="2951305" cy="113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72" y="257919"/>
            <a:ext cx="10515600" cy="1325563"/>
          </a:xfrm>
        </p:spPr>
        <p:txBody>
          <a:bodyPr/>
          <a:lstStyle/>
          <a:p>
            <a:r>
              <a:rPr lang="de-AT" dirty="0"/>
              <a:t>Checking 2.666 Angström </a:t>
            </a:r>
            <a:r>
              <a:rPr lang="de-AT" dirty="0" err="1"/>
              <a:t>result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1743645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2.666 Angström</a:t>
            </a:r>
          </a:p>
          <a:p>
            <a:r>
              <a:rPr lang="de-AT" sz="1800" dirty="0"/>
              <a:t>N = </a:t>
            </a:r>
            <a:r>
              <a:rPr lang="de-AT" sz="1800" dirty="0" err="1"/>
              <a:t>ensemble</a:t>
            </a:r>
            <a:r>
              <a:rPr lang="de-AT" sz="1800" dirty="0"/>
              <a:t> (14 K, 40 bar)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</a:t>
            </a:r>
            <a:r>
              <a:rPr lang="en-GB" sz="1800" b="0" i="0" dirty="0">
                <a:solidFill>
                  <a:srgbClr val="FF0000"/>
                </a:solidFill>
                <a:effectLst/>
                <a:latin typeface="Menlo"/>
              </a:rPr>
              <a:t>22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0.4;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0.1;</a:t>
            </a:r>
          </a:p>
          <a:p>
            <a:endParaRPr lang="de-AT" dirty="0"/>
          </a:p>
          <a:p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691FD0-C701-9680-E94D-B2511439B33D}"/>
              </a:ext>
            </a:extLst>
          </p:cNvPr>
          <p:cNvSpPr txBox="1"/>
          <p:nvPr/>
        </p:nvSpPr>
        <p:spPr>
          <a:xfrm>
            <a:off x="353148" y="3550394"/>
            <a:ext cx="215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Simulation VD: 131 u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DA75F70-8C3A-30DA-17AB-3B609A9E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17" y="3845815"/>
            <a:ext cx="4307140" cy="277923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D707702-4EE3-31B5-DD6A-DEDD98037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452" y="1507184"/>
            <a:ext cx="5122635" cy="281171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1415929-CBF1-0B07-C3F3-8ADD9FFA2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922" y="4987733"/>
            <a:ext cx="4555364" cy="157268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96C4A17-F963-D041-5192-78F04188B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110" y="5026047"/>
            <a:ext cx="1908544" cy="150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5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DB4C4-EE96-B3ED-CF5E-0E296E8B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Use </a:t>
            </a:r>
            <a:r>
              <a:rPr lang="de-AT" dirty="0" err="1"/>
              <a:t>artificial</a:t>
            </a:r>
            <a:r>
              <a:rPr lang="de-AT" dirty="0"/>
              <a:t> </a:t>
            </a:r>
            <a:r>
              <a:rPr lang="de-AT" dirty="0" err="1"/>
              <a:t>sigma</a:t>
            </a:r>
            <a:r>
              <a:rPr lang="de-AT" dirty="0"/>
              <a:t>(v)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ABFA97-6034-8414-73A7-7595DBC4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0" i="0" dirty="0" err="1">
                <a:effectLst/>
                <a:latin typeface="Menlo"/>
              </a:rPr>
              <a:t>v_debug</a:t>
            </a:r>
            <a:r>
              <a:rPr lang="en-GB" sz="1800" b="0" i="0" dirty="0">
                <a:effectLst/>
                <a:latin typeface="Menlo"/>
              </a:rPr>
              <a:t> = 0:0.1:30;</a:t>
            </a:r>
          </a:p>
          <a:p>
            <a:r>
              <a:rPr lang="en-GB" sz="1800" b="0" i="0" dirty="0" err="1">
                <a:effectLst/>
                <a:latin typeface="Menlo"/>
              </a:rPr>
              <a:t>sigma_debug</a:t>
            </a:r>
            <a:r>
              <a:rPr lang="en-GB" sz="1800" b="0" i="0" dirty="0">
                <a:effectLst/>
                <a:latin typeface="Menlo"/>
              </a:rPr>
              <a:t> = (</a:t>
            </a:r>
            <a:r>
              <a:rPr lang="en-GB" sz="1800" b="0" i="0" dirty="0" err="1">
                <a:effectLst/>
                <a:latin typeface="Menlo"/>
              </a:rPr>
              <a:t>sigma0</a:t>
            </a:r>
            <a:r>
              <a:rPr lang="en-GB" sz="1800" b="0" i="0" dirty="0">
                <a:effectLst/>
                <a:latin typeface="Menlo"/>
              </a:rPr>
              <a:t>*3 - </a:t>
            </a:r>
            <a:r>
              <a:rPr lang="en-GB" sz="1800" b="0" i="0" dirty="0" err="1">
                <a:effectLst/>
                <a:latin typeface="Menlo"/>
              </a:rPr>
              <a:t>sigma0</a:t>
            </a:r>
            <a:r>
              <a:rPr lang="en-GB" sz="1800" b="0" i="0" dirty="0">
                <a:effectLst/>
                <a:latin typeface="Menlo"/>
              </a:rPr>
              <a:t>)* exp(-</a:t>
            </a:r>
            <a:r>
              <a:rPr lang="en-GB" sz="1800" b="0" i="0" dirty="0" err="1">
                <a:effectLst/>
                <a:latin typeface="Menlo"/>
              </a:rPr>
              <a:t>v_debug</a:t>
            </a:r>
            <a:r>
              <a:rPr lang="en-GB" sz="1800" b="0" i="0" dirty="0">
                <a:effectLst/>
                <a:latin typeface="Menlo"/>
              </a:rPr>
              <a:t>/15) + </a:t>
            </a:r>
            <a:r>
              <a:rPr lang="en-GB" sz="1800" b="0" i="0" dirty="0" err="1">
                <a:effectLst/>
                <a:latin typeface="Menlo"/>
              </a:rPr>
              <a:t>sigma0</a:t>
            </a:r>
            <a:r>
              <a:rPr lang="en-GB" sz="1800" b="0" i="0" dirty="0">
                <a:effectLst/>
                <a:latin typeface="Menlo"/>
              </a:rPr>
              <a:t>;</a:t>
            </a:r>
          </a:p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ED3FCF-417B-7D38-35F6-B27103C07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205" y="2692673"/>
            <a:ext cx="3949557" cy="314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Adjusting</a:t>
            </a:r>
            <a:r>
              <a:rPr lang="de-AT" dirty="0"/>
              <a:t> MD </a:t>
            </a:r>
            <a:r>
              <a:rPr lang="de-AT" dirty="0" err="1"/>
              <a:t>to</a:t>
            </a:r>
            <a:r>
              <a:rPr lang="de-AT" dirty="0"/>
              <a:t> fit </a:t>
            </a:r>
            <a:r>
              <a:rPr lang="de-AT" dirty="0" err="1"/>
              <a:t>DFT</a:t>
            </a:r>
            <a:r>
              <a:rPr lang="de-AT" dirty="0"/>
              <a:t> |v|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1743645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9 Angström</a:t>
            </a:r>
          </a:p>
          <a:p>
            <a:r>
              <a:rPr lang="de-AT" sz="1800" dirty="0"/>
              <a:t>N = 2000 (</a:t>
            </a:r>
            <a:r>
              <a:rPr lang="de-AT" sz="1800" dirty="0" err="1"/>
              <a:t>R_droplet</a:t>
            </a:r>
            <a:r>
              <a:rPr lang="de-AT" sz="1800" dirty="0"/>
              <a:t> = 27 Angström)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10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0.4;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0.1;</a:t>
            </a:r>
          </a:p>
          <a:p>
            <a:endParaRPr lang="de-AT" dirty="0"/>
          </a:p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24AF190-C998-7F0B-AD6B-B9776F5A0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772" y="1482289"/>
            <a:ext cx="4224589" cy="271449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EA6B99A-56D4-D1D1-955D-68B5B965F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46" y="3795120"/>
            <a:ext cx="4413263" cy="287684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A691FD0-C701-9680-E94D-B2511439B33D}"/>
              </a:ext>
            </a:extLst>
          </p:cNvPr>
          <p:cNvSpPr txBox="1"/>
          <p:nvPr/>
        </p:nvSpPr>
        <p:spPr>
          <a:xfrm>
            <a:off x="5669280" y="4307139"/>
            <a:ext cx="215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Simulation VD: 131 u</a:t>
            </a:r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B783487-EA34-3AE0-71ED-79134074A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226" y="4678543"/>
            <a:ext cx="3658019" cy="194829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95F4155-A135-061E-15D4-E38B0C76B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380" y="4927067"/>
            <a:ext cx="2122826" cy="169546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74D0FC9-0526-443F-8E3E-C7C4F4BA6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019" y="77719"/>
            <a:ext cx="3060612" cy="142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2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72" y="257919"/>
            <a:ext cx="10515600" cy="1325563"/>
          </a:xfrm>
        </p:spPr>
        <p:txBody>
          <a:bodyPr/>
          <a:lstStyle/>
          <a:p>
            <a:r>
              <a:rPr lang="de-AT" dirty="0"/>
              <a:t>Checking 2.666 Angström </a:t>
            </a:r>
            <a:r>
              <a:rPr lang="de-AT" dirty="0" err="1"/>
              <a:t>result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1743645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2.666 Angström</a:t>
            </a:r>
          </a:p>
          <a:p>
            <a:r>
              <a:rPr lang="de-AT" sz="1800" dirty="0"/>
              <a:t>N = </a:t>
            </a:r>
            <a:r>
              <a:rPr lang="de-AT" sz="1800" dirty="0" err="1"/>
              <a:t>ensemble</a:t>
            </a:r>
            <a:r>
              <a:rPr lang="de-AT" sz="1800" dirty="0"/>
              <a:t> (14 K, 40 bar)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10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0.4;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0.1;</a:t>
            </a:r>
          </a:p>
          <a:p>
            <a:endParaRPr lang="de-AT" dirty="0"/>
          </a:p>
          <a:p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691FD0-C701-9680-E94D-B2511439B33D}"/>
              </a:ext>
            </a:extLst>
          </p:cNvPr>
          <p:cNvSpPr txBox="1"/>
          <p:nvPr/>
        </p:nvSpPr>
        <p:spPr>
          <a:xfrm>
            <a:off x="5669280" y="4307139"/>
            <a:ext cx="215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Simulation VD: 131 u</a:t>
            </a:r>
            <a:endParaRPr lang="en-GB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58E2FFF-092A-DCAC-9909-901F5ACF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22" y="3764004"/>
            <a:ext cx="4371953" cy="291111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7A0FE83-4C97-B367-523D-CF921A474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043" y="4956679"/>
            <a:ext cx="3997496" cy="159072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3EADCBB-8DA2-3503-8604-B7769B4DA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276" y="4887061"/>
            <a:ext cx="2125892" cy="170292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B6408DB-A138-3B2A-E11A-146B5DE27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395" y="1425202"/>
            <a:ext cx="4437707" cy="223664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74F719B-F9A4-A470-A709-0E9EAE048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910" y="84432"/>
            <a:ext cx="3550395" cy="136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2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7EA27-CAD8-4266-AFF5-3B59C481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Fit </a:t>
            </a:r>
            <a:r>
              <a:rPr lang="de-DE" dirty="0" err="1"/>
              <a:t>calculated</a:t>
            </a:r>
            <a:r>
              <a:rPr lang="de-DE" dirty="0"/>
              <a:t> </a:t>
            </a:r>
            <a:r>
              <a:rPr lang="de-DE" dirty="0" err="1"/>
              <a:t>crosssection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77CAA2-6FD3-4AED-84BB-EB73A398A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Log(</a:t>
            </a:r>
            <a:r>
              <a:rPr lang="de-DE" dirty="0" err="1"/>
              <a:t>sigma</a:t>
            </a:r>
            <a:r>
              <a:rPr lang="de-DE" dirty="0"/>
              <a:t>(v)) = -k log(v) + d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0E2A2B-7A87-4FF7-AB38-9A433004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35" y="2336799"/>
            <a:ext cx="5003840" cy="364066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0AE2506-F730-405C-8906-208096F2C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779" y="2218265"/>
            <a:ext cx="3781488" cy="288080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16CEBB0-C3F6-4E24-B066-57ADEE267ED6}"/>
              </a:ext>
            </a:extLst>
          </p:cNvPr>
          <p:cNvSpPr txBox="1"/>
          <p:nvPr/>
        </p:nvSpPr>
        <p:spPr>
          <a:xfrm>
            <a:off x="499534" y="6011334"/>
            <a:ext cx="10867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The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k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lmax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2</a:t>
            </a:r>
          </a:p>
          <a:p>
            <a:r>
              <a:rPr lang="de-DE" dirty="0"/>
              <a:t>The d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important</a:t>
            </a:r>
            <a:r>
              <a:rPr lang="de-DE" dirty="0"/>
              <a:t>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contained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sigma0</a:t>
            </a:r>
            <a:r>
              <a:rPr lang="de-DE" dirty="0"/>
              <a:t>: </a:t>
            </a:r>
            <a:r>
              <a:rPr lang="de-DE" dirty="0" err="1"/>
              <a:t>sigma</a:t>
            </a:r>
            <a:r>
              <a:rPr lang="de-DE" dirty="0"/>
              <a:t>(v) = </a:t>
            </a:r>
            <a:r>
              <a:rPr lang="de-DE" dirty="0" err="1"/>
              <a:t>exp</a:t>
            </a:r>
            <a:r>
              <a:rPr lang="de-DE" dirty="0"/>
              <a:t>(-k log(v) + </a:t>
            </a:r>
            <a:r>
              <a:rPr lang="de-DE" dirty="0">
                <a:solidFill>
                  <a:srgbClr val="FF0000"/>
                </a:solidFill>
              </a:rPr>
              <a:t>d</a:t>
            </a:r>
            <a:r>
              <a:rPr lang="de-DE" dirty="0"/>
              <a:t>) = </a:t>
            </a:r>
            <a:r>
              <a:rPr lang="de-DE" dirty="0" err="1">
                <a:solidFill>
                  <a:srgbClr val="FF0000"/>
                </a:solidFill>
              </a:rPr>
              <a:t>sigma0</a:t>
            </a:r>
            <a:r>
              <a:rPr lang="de-DE" dirty="0"/>
              <a:t> * </a:t>
            </a:r>
            <a:r>
              <a:rPr lang="de-DE" dirty="0" err="1"/>
              <a:t>exp</a:t>
            </a:r>
            <a:r>
              <a:rPr lang="de-DE" dirty="0"/>
              <a:t>(- k log(v))</a:t>
            </a:r>
            <a:endParaRPr lang="de-AT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78DCFBA-EF89-4A65-BE80-119CAF99D567}"/>
              </a:ext>
            </a:extLst>
          </p:cNvPr>
          <p:cNvSpPr txBox="1"/>
          <p:nvPr/>
        </p:nvSpPr>
        <p:spPr>
          <a:xfrm>
            <a:off x="8754533" y="939800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Q_S</a:t>
            </a:r>
            <a:r>
              <a:rPr lang="de-DE" dirty="0"/>
              <a:t> = </a:t>
            </a:r>
            <a:r>
              <a:rPr lang="de-DE" dirty="0" err="1"/>
              <a:t>sigma</a:t>
            </a:r>
            <a:r>
              <a:rPr lang="de-DE" dirty="0"/>
              <a:t>(v) = </a:t>
            </a:r>
            <a:r>
              <a:rPr lang="de-DE" dirty="0" err="1"/>
              <a:t>sigma0</a:t>
            </a:r>
            <a:r>
              <a:rPr lang="de-DE" dirty="0"/>
              <a:t> v^-2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0062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211F8-6D8D-4C40-8CAB-7EBD5191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v^-2 ??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ED591F-6894-4442-9844-2C6D559FD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Comes </a:t>
            </a:r>
            <a:r>
              <a:rPr lang="de-DE" dirty="0" err="1"/>
              <a:t>directly</a:t>
            </a:r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means</a:t>
            </a:r>
            <a:r>
              <a:rPr lang="de-DE" dirty="0"/>
              <a:t> in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rougly</a:t>
            </a:r>
            <a:r>
              <a:rPr lang="de-DE" dirty="0"/>
              <a:t> </a:t>
            </a:r>
            <a:r>
              <a:rPr lang="de-DE" dirty="0" err="1"/>
              <a:t>independent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k</a:t>
            </a:r>
            <a:br>
              <a:rPr lang="de-DE" dirty="0"/>
            </a:b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? </a:t>
            </a:r>
            <a:r>
              <a:rPr lang="de-DE" dirty="0" err="1"/>
              <a:t>Delta_l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implicitely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on k</a:t>
            </a:r>
            <a:br>
              <a:rPr lang="de-DE" dirty="0"/>
            </a:b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E4D9F8-41FB-45A0-AAA5-D7280CFE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88" y="2461267"/>
            <a:ext cx="8326012" cy="150516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993580F-4D3A-4C74-B0DC-757D48E8BE30}"/>
              </a:ext>
            </a:extLst>
          </p:cNvPr>
          <p:cNvSpPr txBox="1"/>
          <p:nvPr/>
        </p:nvSpPr>
        <p:spPr>
          <a:xfrm>
            <a:off x="824753" y="4410635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Hbar</a:t>
            </a:r>
            <a:r>
              <a:rPr lang="de-DE" dirty="0"/>
              <a:t> k = m v </a:t>
            </a:r>
            <a:r>
              <a:rPr lang="de-DE" dirty="0">
                <a:sym typeface="Wingdings" panose="05000000000000000000" pitchFamily="2" charset="2"/>
              </a:rPr>
              <a:t> k =m v/</a:t>
            </a:r>
            <a:r>
              <a:rPr lang="de-DE" dirty="0" err="1">
                <a:sym typeface="Wingdings" panose="05000000000000000000" pitchFamily="2" charset="2"/>
              </a:rPr>
              <a:t>hbar</a:t>
            </a:r>
            <a:endParaRPr lang="de-AT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39DFC8D-5E35-40C3-B235-86F9E1690A6D}"/>
              </a:ext>
            </a:extLst>
          </p:cNvPr>
          <p:cNvSpPr txBox="1"/>
          <p:nvPr/>
        </p:nvSpPr>
        <p:spPr>
          <a:xfrm>
            <a:off x="421341" y="6060141"/>
            <a:ext cx="340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Qs</a:t>
            </a:r>
            <a:r>
              <a:rPr lang="de-DE" dirty="0"/>
              <a:t> = |f|^2 </a:t>
            </a:r>
            <a:r>
              <a:rPr lang="de-DE" dirty="0">
                <a:sym typeface="Wingdings" panose="05000000000000000000" pitchFamily="2" charset="2"/>
              </a:rPr>
              <a:t> proportional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v^-2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81457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BCCA9-00AF-4B74-9F03-5680CADF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 Ne+ (and </a:t>
            </a:r>
            <a:r>
              <a:rPr lang="de-DE" dirty="0" err="1"/>
              <a:t>others</a:t>
            </a:r>
            <a:r>
              <a:rPr lang="de-DE" dirty="0"/>
              <a:t>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B6487C-B67C-4998-984A-8A30F7E7D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3E1FE8-0052-4C82-A959-BDC09EA716CB}"/>
              </a:ext>
            </a:extLst>
          </p:cNvPr>
          <p:cNvSpPr txBox="1"/>
          <p:nvPr/>
        </p:nvSpPr>
        <p:spPr>
          <a:xfrm>
            <a:off x="4912658" y="13976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10.1016/</a:t>
            </a:r>
            <a:r>
              <a:rPr lang="de-AT" dirty="0" err="1"/>
              <a:t>j.radphyschem.2004.04.038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9D0EF1B-4A52-4B83-88A1-8DA56F0AC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14" y="1821233"/>
            <a:ext cx="7325747" cy="405821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9908E16-467C-4658-920E-D330B76D908B}"/>
              </a:ext>
            </a:extLst>
          </p:cNvPr>
          <p:cNvSpPr txBox="1"/>
          <p:nvPr/>
        </p:nvSpPr>
        <p:spPr>
          <a:xfrm>
            <a:off x="914400" y="6454588"/>
            <a:ext cx="7231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. I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published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stuff</a:t>
            </a:r>
            <a:r>
              <a:rPr lang="de-DE" dirty="0"/>
              <a:t> 5 </a:t>
            </a:r>
            <a:r>
              <a:rPr lang="de-DE" dirty="0" err="1"/>
              <a:t>times</a:t>
            </a:r>
            <a:r>
              <a:rPr lang="de-DE" dirty="0"/>
              <a:t>…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6688E64-5D21-4777-A5C0-C19E7AA71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129" y="2417426"/>
            <a:ext cx="3089518" cy="237869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76558E7A-285E-404D-B39B-A58543D016DF}"/>
              </a:ext>
            </a:extLst>
          </p:cNvPr>
          <p:cNvSpPr txBox="1"/>
          <p:nvPr/>
        </p:nvSpPr>
        <p:spPr>
          <a:xfrm>
            <a:off x="8390965" y="5782235"/>
            <a:ext cx="24000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Qs</a:t>
            </a:r>
            <a:r>
              <a:rPr lang="de-DE" dirty="0"/>
              <a:t> (E) = </a:t>
            </a:r>
            <a:r>
              <a:rPr lang="de-DE" dirty="0" err="1"/>
              <a:t>Qs</a:t>
            </a:r>
            <a:r>
              <a:rPr lang="de-DE" dirty="0"/>
              <a:t>(0) E^</a:t>
            </a:r>
            <a:r>
              <a:rPr lang="de-DE" dirty="0">
                <a:solidFill>
                  <a:srgbClr val="FF0000"/>
                </a:solidFill>
              </a:rPr>
              <a:t>-0.332</a:t>
            </a:r>
            <a:r>
              <a:rPr lang="de-DE" dirty="0"/>
              <a:t>;</a:t>
            </a:r>
          </a:p>
          <a:p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7614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ACA4C8-776E-4874-B2CA-E9B675ED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Sigma(v), (</a:t>
            </a:r>
            <a:r>
              <a:rPr lang="de-DE" dirty="0" err="1"/>
              <a:t>sigma0</a:t>
            </a:r>
            <a:r>
              <a:rPr lang="de-DE" dirty="0"/>
              <a:t> = 1900 </a:t>
            </a:r>
            <a:r>
              <a:rPr lang="de-DE" dirty="0" err="1"/>
              <a:t>Angström^2</a:t>
            </a:r>
            <a:r>
              <a:rPr lang="de-DE" dirty="0"/>
              <a:t>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974022-A11F-42A7-908B-9C3A6FC6D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Explodes</a:t>
            </a:r>
            <a:r>
              <a:rPr lang="de-DE" dirty="0"/>
              <a:t> at </a:t>
            </a:r>
            <a:r>
              <a:rPr lang="de-DE" dirty="0" err="1"/>
              <a:t>small</a:t>
            </a:r>
            <a:r>
              <a:rPr lang="de-DE" dirty="0"/>
              <a:t> v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36CF657-CE5A-4749-AA26-04E1A5466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7" y="2610691"/>
            <a:ext cx="4816475" cy="368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9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A9BA3-21D2-40C9-8058-82564C6D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Check </a:t>
            </a:r>
            <a:r>
              <a:rPr lang="de-DE" dirty="0" err="1"/>
              <a:t>tof</a:t>
            </a:r>
            <a:r>
              <a:rPr lang="de-DE" dirty="0"/>
              <a:t> (50 mW probe)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C03D1F-280A-4591-91AE-BB4E6B1C5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attachment</a:t>
            </a:r>
            <a:r>
              <a:rPr lang="de-DE" dirty="0"/>
              <a:t> </a:t>
            </a:r>
            <a:r>
              <a:rPr lang="de-DE" dirty="0" err="1"/>
              <a:t>probability</a:t>
            </a:r>
            <a:r>
              <a:rPr lang="de-DE" dirty="0"/>
              <a:t> so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ions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similar</a:t>
            </a:r>
            <a:endParaRPr lang="de-DE" dirty="0"/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1CF2B91-38C3-4B21-8AB4-6D162BC9D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64" y="2563539"/>
            <a:ext cx="7973538" cy="391532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51C69D5-B778-4D71-A867-D4B2E10408FA}"/>
              </a:ext>
            </a:extLst>
          </p:cNvPr>
          <p:cNvSpPr txBox="1"/>
          <p:nvPr/>
        </p:nvSpPr>
        <p:spPr>
          <a:xfrm>
            <a:off x="8856133" y="3683000"/>
            <a:ext cx="26484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I+: 6574 – 1161 = 5400 | 1</a:t>
            </a:r>
          </a:p>
          <a:p>
            <a:r>
              <a:rPr lang="de-DE" dirty="0" err="1"/>
              <a:t>I+He</a:t>
            </a:r>
            <a:r>
              <a:rPr lang="de-DE" dirty="0"/>
              <a:t>: 2900 | 0.53</a:t>
            </a:r>
          </a:p>
          <a:p>
            <a:r>
              <a:rPr lang="de-DE" dirty="0" err="1"/>
              <a:t>I+He2</a:t>
            </a:r>
            <a:r>
              <a:rPr lang="de-DE" dirty="0"/>
              <a:t>: 1500 | 0.27</a:t>
            </a:r>
          </a:p>
          <a:p>
            <a:r>
              <a:rPr lang="de-DE" dirty="0" err="1"/>
              <a:t>I+He3</a:t>
            </a:r>
            <a:r>
              <a:rPr lang="de-DE" dirty="0"/>
              <a:t>: 1000 | 0.2</a:t>
            </a:r>
          </a:p>
          <a:p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5287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Adjusting</a:t>
            </a:r>
            <a:r>
              <a:rPr lang="de-AT" dirty="0"/>
              <a:t> MD </a:t>
            </a:r>
            <a:r>
              <a:rPr lang="de-AT" dirty="0" err="1"/>
              <a:t>to</a:t>
            </a:r>
            <a:r>
              <a:rPr lang="de-AT" dirty="0"/>
              <a:t> fit </a:t>
            </a:r>
            <a:r>
              <a:rPr lang="de-AT" dirty="0" err="1"/>
              <a:t>DFT</a:t>
            </a:r>
            <a:r>
              <a:rPr lang="de-AT" dirty="0"/>
              <a:t> |v|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1743645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9 Angström</a:t>
            </a:r>
          </a:p>
          <a:p>
            <a:r>
              <a:rPr lang="de-AT" sz="1800" dirty="0"/>
              <a:t>N = 2000 (</a:t>
            </a:r>
            <a:r>
              <a:rPr lang="de-AT" sz="1800" dirty="0" err="1"/>
              <a:t>R_droplet</a:t>
            </a:r>
            <a:r>
              <a:rPr lang="de-AT" sz="1800" dirty="0"/>
              <a:t> = 27 Angström)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</a:t>
            </a:r>
            <a:br>
              <a:rPr lang="en-GB" sz="1800" b="0" i="0" dirty="0">
                <a:effectLst/>
                <a:latin typeface="Menlo"/>
              </a:rPr>
            </a:br>
            <a:r>
              <a:rPr lang="en-GB" sz="1800" b="0" i="0" dirty="0">
                <a:effectLst/>
                <a:latin typeface="Menlo"/>
              </a:rPr>
              <a:t>(</a:t>
            </a:r>
            <a:r>
              <a:rPr lang="en-GB" sz="1800" b="0" i="0" dirty="0" err="1">
                <a:effectLst/>
                <a:latin typeface="Menlo"/>
              </a:rPr>
              <a:t>sigma0</a:t>
            </a:r>
            <a:r>
              <a:rPr lang="en-GB" sz="1800" b="0" i="0" dirty="0">
                <a:effectLst/>
                <a:latin typeface="Menlo"/>
              </a:rPr>
              <a:t> ) = 1900 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0.3;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0.09;</a:t>
            </a:r>
          </a:p>
          <a:p>
            <a:endParaRPr lang="de-AT" dirty="0"/>
          </a:p>
          <a:p>
            <a:endParaRPr lang="en-GB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6E13DBE-5DAA-443D-9A32-CF513B6B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3" y="1777764"/>
            <a:ext cx="5032974" cy="23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11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72" y="257919"/>
            <a:ext cx="10515600" cy="1325563"/>
          </a:xfrm>
        </p:spPr>
        <p:txBody>
          <a:bodyPr/>
          <a:lstStyle/>
          <a:p>
            <a:r>
              <a:rPr lang="de-AT" dirty="0"/>
              <a:t>Checking 2.666 Angström </a:t>
            </a:r>
            <a:r>
              <a:rPr lang="de-AT" dirty="0" err="1"/>
              <a:t>result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35" y="1430378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2.666 Angström</a:t>
            </a:r>
          </a:p>
          <a:p>
            <a:r>
              <a:rPr lang="de-AT" sz="1800" dirty="0"/>
              <a:t>N = </a:t>
            </a:r>
            <a:r>
              <a:rPr lang="de-AT" sz="1800" dirty="0" err="1"/>
              <a:t>ensemble</a:t>
            </a:r>
            <a:r>
              <a:rPr lang="de-AT" sz="1800" dirty="0"/>
              <a:t> (14 K, 40 bar)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1900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0.3;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0.09;</a:t>
            </a:r>
          </a:p>
          <a:p>
            <a:endParaRPr lang="de-AT" dirty="0"/>
          </a:p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1610BB-10F5-4241-8CC4-71E897991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" y="3497244"/>
            <a:ext cx="4622800" cy="305933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FC788B2-7D66-4471-A643-AB25164F4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342461"/>
            <a:ext cx="4792133" cy="297046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A0BAC07-E0C1-447D-9D85-6EA990B97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488" y="4309534"/>
            <a:ext cx="3035831" cy="240717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FCF3354-4CE1-4970-8366-3BA62E92C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132" y="4796527"/>
            <a:ext cx="3630131" cy="157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6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72" y="257919"/>
            <a:ext cx="10515600" cy="1325563"/>
          </a:xfrm>
        </p:spPr>
        <p:txBody>
          <a:bodyPr/>
          <a:lstStyle/>
          <a:p>
            <a:r>
              <a:rPr lang="de-AT" dirty="0"/>
              <a:t>Checking 9 Angström </a:t>
            </a:r>
            <a:r>
              <a:rPr lang="de-AT" dirty="0" err="1"/>
              <a:t>result</a:t>
            </a:r>
            <a:r>
              <a:rPr lang="de-AT" dirty="0"/>
              <a:t> (</a:t>
            </a:r>
            <a:r>
              <a:rPr lang="de-AT" dirty="0" err="1"/>
              <a:t>ensemble</a:t>
            </a:r>
            <a:r>
              <a:rPr lang="de-AT" dirty="0"/>
              <a:t>)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35" y="1430378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9 Angström</a:t>
            </a:r>
          </a:p>
          <a:p>
            <a:r>
              <a:rPr lang="de-AT" sz="1800" dirty="0"/>
              <a:t>N = </a:t>
            </a:r>
            <a:r>
              <a:rPr lang="de-AT" sz="1800" dirty="0" err="1"/>
              <a:t>ensemble</a:t>
            </a:r>
            <a:r>
              <a:rPr lang="de-AT" sz="1800" dirty="0"/>
              <a:t> (14 K, 40 bar)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1900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0.3;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0.09;</a:t>
            </a:r>
          </a:p>
          <a:p>
            <a:r>
              <a:rPr lang="en-GB" sz="1800" dirty="0" err="1">
                <a:latin typeface="Menlo"/>
              </a:rPr>
              <a:t>T_particle</a:t>
            </a:r>
            <a:r>
              <a:rPr lang="en-GB" sz="1800" dirty="0">
                <a:latin typeface="Menlo"/>
              </a:rPr>
              <a:t> = 12.7 K</a:t>
            </a:r>
            <a:endParaRPr lang="en-GB" sz="1800" b="0" i="0" dirty="0">
              <a:effectLst/>
              <a:latin typeface="Menlo"/>
            </a:endParaRPr>
          </a:p>
          <a:p>
            <a:endParaRPr lang="de-AT" dirty="0"/>
          </a:p>
          <a:p>
            <a:endParaRPr lang="en-GB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A2ECFE-7051-4D4B-B042-A45AFE244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53" y="3657600"/>
            <a:ext cx="4547897" cy="2946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0C4E444-DBE7-4238-B17E-F3BC38D1F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532" y="3642136"/>
            <a:ext cx="4770391" cy="264145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8FE71A8-B057-444A-B77B-E1E6C4393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356" y="4030132"/>
            <a:ext cx="3076335" cy="234526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35B6B15-45A2-461F-916C-D36C70BA8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800" y="1371494"/>
            <a:ext cx="5337345" cy="210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4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72" y="257919"/>
            <a:ext cx="10515600" cy="1325563"/>
          </a:xfrm>
        </p:spPr>
        <p:txBody>
          <a:bodyPr/>
          <a:lstStyle/>
          <a:p>
            <a:r>
              <a:rPr lang="de-AT" dirty="0"/>
              <a:t>Checking 9 Angström </a:t>
            </a:r>
            <a:r>
              <a:rPr lang="de-AT" dirty="0" err="1"/>
              <a:t>result</a:t>
            </a:r>
            <a:r>
              <a:rPr lang="de-AT" dirty="0"/>
              <a:t> (</a:t>
            </a:r>
            <a:r>
              <a:rPr lang="de-AT" dirty="0" err="1"/>
              <a:t>ensemble</a:t>
            </a:r>
            <a:r>
              <a:rPr lang="de-AT" dirty="0"/>
              <a:t>)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35" y="1430378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9 Angström</a:t>
            </a:r>
          </a:p>
          <a:p>
            <a:r>
              <a:rPr lang="de-AT" sz="1800" dirty="0"/>
              <a:t>N = </a:t>
            </a:r>
            <a:r>
              <a:rPr lang="de-AT" sz="1800" dirty="0" err="1"/>
              <a:t>ensemble</a:t>
            </a:r>
            <a:r>
              <a:rPr lang="de-AT" sz="1800" dirty="0"/>
              <a:t> (14 K, 40 bar)</a:t>
            </a:r>
          </a:p>
          <a:p>
            <a:r>
              <a:rPr lang="en-GB" sz="1800" b="0" i="0" dirty="0" err="1">
                <a:effectLst/>
                <a:latin typeface="Menlo"/>
              </a:rPr>
              <a:t>geometric_scattering_crosssection_Iplus</a:t>
            </a:r>
            <a:r>
              <a:rPr lang="en-GB" sz="1800" b="0" i="0" dirty="0">
                <a:effectLst/>
                <a:latin typeface="Menlo"/>
              </a:rPr>
              <a:t> = 1900</a:t>
            </a:r>
          </a:p>
          <a:p>
            <a:r>
              <a:rPr lang="en-GB" sz="1800" b="0" i="0" dirty="0" err="1">
                <a:effectLst/>
                <a:latin typeface="Menlo"/>
              </a:rPr>
              <a:t>binding_energy_I_ion</a:t>
            </a:r>
            <a:r>
              <a:rPr lang="en-GB" sz="1800" b="0" i="0" dirty="0">
                <a:effectLst/>
                <a:latin typeface="Menlo"/>
              </a:rPr>
              <a:t> = 0.3;</a:t>
            </a:r>
          </a:p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0.09;</a:t>
            </a:r>
          </a:p>
          <a:p>
            <a:r>
              <a:rPr lang="en-GB" sz="1800" dirty="0" err="1">
                <a:latin typeface="Menlo"/>
              </a:rPr>
              <a:t>T_particle</a:t>
            </a:r>
            <a:r>
              <a:rPr lang="en-GB" sz="1800" dirty="0">
                <a:latin typeface="Menlo"/>
              </a:rPr>
              <a:t> = 0.6 K (check if there is a difference)</a:t>
            </a:r>
            <a:endParaRPr lang="en-GB" sz="1800" b="0" i="0" dirty="0">
              <a:effectLst/>
              <a:latin typeface="Menlo"/>
            </a:endParaRPr>
          </a:p>
          <a:p>
            <a:endParaRPr lang="de-AT" dirty="0"/>
          </a:p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613BA9-B006-4CAE-B67C-DFD0513A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3829076"/>
            <a:ext cx="4109803" cy="264836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F1AFE34-F505-46B2-8A89-B0F6D3863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399" y="4362910"/>
            <a:ext cx="3860801" cy="171377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BB86CAC-7A5D-47B3-A9A2-88AB4962F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793" y="4004732"/>
            <a:ext cx="3024136" cy="249237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7C98ADD-5621-45B2-8324-5D0FF39C4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333" y="1557637"/>
            <a:ext cx="2347912" cy="254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Office PowerPoint</Application>
  <PresentationFormat>Breitbild</PresentationFormat>
  <Paragraphs>85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Menlo</vt:lpstr>
      <vt:lpstr>Office</vt:lpstr>
      <vt:lpstr>PowerPoint-Präsentation</vt:lpstr>
      <vt:lpstr>Use constant sigma(v) = sigma0</vt:lpstr>
      <vt:lpstr>Adjusting MD to fit DFT |v|</vt:lpstr>
      <vt:lpstr>Checking 2.666 Angström result</vt:lpstr>
      <vt:lpstr>Use artificial sigma(v)</vt:lpstr>
      <vt:lpstr>Adjusting MD to fit DFT |v|</vt:lpstr>
      <vt:lpstr>Checking 2.666 Angström result</vt:lpstr>
      <vt:lpstr>Fit calculated crosssection</vt:lpstr>
      <vt:lpstr>Why v^-2 ??</vt:lpstr>
      <vt:lpstr>He Ne+ (and others)</vt:lpstr>
      <vt:lpstr>Sigma(v), (sigma0 = 1900 Angström^2)</vt:lpstr>
      <vt:lpstr>Check tof (50 mW probe)</vt:lpstr>
      <vt:lpstr>Adjusting MD to fit DFT |v|</vt:lpstr>
      <vt:lpstr>Checking 2.666 Angström result</vt:lpstr>
      <vt:lpstr>Checking 9 Angström result (ensemble)</vt:lpstr>
      <vt:lpstr>Checking 9 Angström result (ensemble)</vt:lpstr>
    </vt:vector>
  </TitlesOfParts>
  <Company>Technische Universitaet Graz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St</dc:creator>
  <cp:lastModifiedBy>Michael St</cp:lastModifiedBy>
  <cp:revision>10</cp:revision>
  <dcterms:created xsi:type="dcterms:W3CDTF">2025-03-03T07:18:43Z</dcterms:created>
  <dcterms:modified xsi:type="dcterms:W3CDTF">2025-03-06T13:02:33Z</dcterms:modified>
</cp:coreProperties>
</file>